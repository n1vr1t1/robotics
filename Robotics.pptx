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sldIdLst>
    <p:sldId id="258" r:id="rId2"/>
    <p:sldId id="259" r:id="rId3"/>
    <p:sldId id="261" r:id="rId4"/>
    <p:sldId id="264" r:id="rId5"/>
    <p:sldId id="265" r:id="rId6"/>
    <p:sldId id="262" r:id="rId7"/>
    <p:sldId id="260" r:id="rId8"/>
    <p:sldId id="263" r:id="rId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ra Francavilla" initials="SF" lastIdx="1" clrIdx="0">
    <p:extLst>
      <p:ext uri="{19B8F6BF-5375-455C-9EA6-DF929625EA0E}">
        <p15:presenceInfo xmlns:p15="http://schemas.microsoft.com/office/powerpoint/2012/main" userId="acc8bfd056488ff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1906"/>
    <a:srgbClr val="1A1A18"/>
    <a:srgbClr val="E6E6E6"/>
    <a:srgbClr val="CEBB92"/>
    <a:srgbClr val="1F1F1F"/>
    <a:srgbClr val="ED1D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23" autoAdjust="0"/>
    <p:restoredTop sz="94804" autoAdjust="0"/>
  </p:normalViewPr>
  <p:slideViewPr>
    <p:cSldViewPr snapToGrid="0">
      <p:cViewPr varScale="1">
        <p:scale>
          <a:sx n="81" d="100"/>
          <a:sy n="81" d="100"/>
        </p:scale>
        <p:origin x="83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9F0240-1A18-4490-8926-2898403ABED4}" type="datetimeFigureOut">
              <a:rPr lang="it-IT" smtClean="0"/>
              <a:t>10/06/2025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C8BEFF-6539-48B8-8806-A915A7A25AF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5274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8BEFF-6539-48B8-8806-A915A7A25AF4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3301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D8E1D3-4F97-E949-176F-61EA27EABE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D90C8FD-E80E-3F96-045F-3FBEF9674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46E7CF-A86E-2F34-A223-F54E74DD9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50FC-F231-461D-ADAB-2129A5C8F0F0}" type="datetimeFigureOut">
              <a:rPr lang="it-IT" smtClean="0"/>
              <a:t>10/06/2025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0855906-352F-CA93-186C-11A63B3E4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DE2C882-8010-DABD-EB0E-E04087E10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0613-7AB8-449B-9512-E589A7CFEF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7407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1D04A2-D44B-1FDB-6512-FA2E42BDE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1ADC922-5C7E-8F4C-F81D-C2EBE2FB3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3A782E5-C899-FAEB-DD3C-DC668EA5D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50FC-F231-461D-ADAB-2129A5C8F0F0}" type="datetimeFigureOut">
              <a:rPr lang="it-IT" smtClean="0"/>
              <a:t>10/06/2025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B647BE0-39C6-235C-3F78-FDE1CBF62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A1AF507-BA4F-6CF0-BEE6-4F77E4E54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0613-7AB8-449B-9512-E589A7CFEF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8339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53085F-59C8-7C07-4025-6341088B7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79D52E9-17E2-83A1-03A8-DB4951693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961EA4E-9A66-F73E-E967-9CBFB1BD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50FC-F231-461D-ADAB-2129A5C8F0F0}" type="datetimeFigureOut">
              <a:rPr lang="it-IT" smtClean="0"/>
              <a:t>10/06/2025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4DA0D22-10CF-09BD-D4F7-74684B30F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ED6E389-6B00-A3CA-8DE5-44A5850E8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0613-7AB8-449B-9512-E589A7CFEF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63971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DF4372-F82F-92D1-A684-DB96ACB04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3579A48-13B6-A429-2467-173EDFE6F3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511B7C1-FCCE-FE93-3C43-CC42AECDE4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1A6E909-9BA0-CC56-5B8B-35C35FC7D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50FC-F231-461D-ADAB-2129A5C8F0F0}" type="datetimeFigureOut">
              <a:rPr lang="it-IT" smtClean="0"/>
              <a:t>10/06/2025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8FE0B2D-A0AF-2A9D-3DD1-F232589E0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F0346D9-DEA5-06B1-5ECF-1A83D3BD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0613-7AB8-449B-9512-E589A7CFEF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3737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A7BB89-BF26-1AB5-8C03-7C4960910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7B5E17E-2B3E-C456-6DD7-231831DC0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3393C07-9DE3-587F-1227-13BC5F8F83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B594DA9-F40D-8239-7C9E-3D75A3BF33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CABF6D1-5443-22A0-8E7C-4C7FF7CBD3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58449E6-BD04-34E2-AE1D-F07586B69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50FC-F231-461D-ADAB-2129A5C8F0F0}" type="datetimeFigureOut">
              <a:rPr lang="it-IT" smtClean="0"/>
              <a:t>10/06/2025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04F0439-6585-7508-540B-A03F8552D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4E4543F-F441-7008-8C72-32586AC31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0613-7AB8-449B-9512-E589A7CFEF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511098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9C909E-1796-77F8-BC5B-018F9D38F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41F24E0-EB91-537E-864A-766774E41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50FC-F231-461D-ADAB-2129A5C8F0F0}" type="datetimeFigureOut">
              <a:rPr lang="it-IT" smtClean="0"/>
              <a:t>10/06/2025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3323E6E-308D-1928-18EC-0A3C7DA9A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B2F0DEA-089A-3EBA-C843-75ECC25D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0613-7AB8-449B-9512-E589A7CFEF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20094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E6AD40A-52CE-1B97-FCAD-675524B00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50FC-F231-461D-ADAB-2129A5C8F0F0}" type="datetimeFigureOut">
              <a:rPr lang="it-IT" smtClean="0"/>
              <a:t>10/06/2025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B372A0B-687F-D1E7-FC42-C59D796A2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9CE3637-48C7-49E4-6363-70542C57B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0613-7AB8-449B-9512-E589A7CFEF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4722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98D092-9FB6-6174-931F-F80A41BE9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3479F15-6A6D-FB91-50C6-DE78F3424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525E91F-E91B-D833-EF16-7F563942C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D781145-DE5C-873D-7FA1-4D0C85CC9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50FC-F231-461D-ADAB-2129A5C8F0F0}" type="datetimeFigureOut">
              <a:rPr lang="it-IT" smtClean="0"/>
              <a:t>10/06/2025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16A06D-F938-396C-08E8-0A84863F7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A365B2D-18CB-4F79-042A-F7A5F5733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0613-7AB8-449B-9512-E589A7CFEF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81491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491E53-5AD9-7F53-FAC5-6D7853AD6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E752234-E53C-B531-61CA-5D05B8DC49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462AB4E-F869-26C5-70FA-454161251D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2DE221B-99B0-E690-A8A5-E573CB48D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50FC-F231-461D-ADAB-2129A5C8F0F0}" type="datetimeFigureOut">
              <a:rPr lang="it-IT" smtClean="0"/>
              <a:t>10/06/2025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2E341A5-B58E-E42E-CA74-95AEA9411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47AC5DD-8E5D-3BF8-8096-64C07F101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0613-7AB8-449B-9512-E589A7CFEF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69037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D1FEFF-F841-17A7-C354-2E485C596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2C23FF2-F870-CFC4-2D5D-51FB541D7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D5B1D45-47E9-4700-941B-1B0481F21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50FC-F231-461D-ADAB-2129A5C8F0F0}" type="datetimeFigureOut">
              <a:rPr lang="it-IT" smtClean="0"/>
              <a:t>10/06/2025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748969C-D406-28E7-A7C3-7D6C00A8F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DFD554D-8848-EC81-A512-CE2432380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0613-7AB8-449B-9512-E589A7CFEF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77725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54D5A895-C180-16CD-847D-9756F5F12E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4D86318-0065-4306-7C47-E02D1E856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CDE40DB-77B5-EA16-8CA6-EAF3CA7F2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50FC-F231-461D-ADAB-2129A5C8F0F0}" type="datetimeFigureOut">
              <a:rPr lang="it-IT" smtClean="0"/>
              <a:t>10/06/2025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0CA7CE7-6735-472F-7384-603BC297B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0F11DFD-1C04-D7DC-6427-D6B008AF0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0613-7AB8-449B-9512-E589A7CFEF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9132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FA795EF-4C8E-5EF5-63C0-6DD194F1C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5DB9841-A124-5522-6C3D-07363FF12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333D70D-0322-89D8-C28B-28D610308F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5250FC-F231-461D-ADAB-2129A5C8F0F0}" type="datetimeFigureOut">
              <a:rPr lang="it-IT" smtClean="0"/>
              <a:t>10/06/2025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4EAF129-22F4-FDF8-DA04-336F3B2893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852917C-C715-033B-63DB-DDB54806C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850613-7AB8-449B-9512-E589A7CFEFD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1181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241AA786-55AE-3A37-8240-47772BF50A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644" y="2561406"/>
            <a:ext cx="1891944" cy="1771748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C8ADBD09-73DF-A652-9FBB-83660367C98D}"/>
              </a:ext>
            </a:extLst>
          </p:cNvPr>
          <p:cNvSpPr/>
          <p:nvPr/>
        </p:nvSpPr>
        <p:spPr>
          <a:xfrm>
            <a:off x="155903" y="169680"/>
            <a:ext cx="85784" cy="1186678"/>
          </a:xfrm>
          <a:prstGeom prst="rect">
            <a:avLst/>
          </a:prstGeom>
          <a:solidFill>
            <a:srgbClr val="CC1906"/>
          </a:solidFill>
          <a:ln>
            <a:solidFill>
              <a:srgbClr val="CC19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E3523476-F4FD-D3B6-1215-35EEA511BA30}"/>
              </a:ext>
            </a:extLst>
          </p:cNvPr>
          <p:cNvSpPr/>
          <p:nvPr/>
        </p:nvSpPr>
        <p:spPr>
          <a:xfrm rot="16200000">
            <a:off x="543444" y="-185227"/>
            <a:ext cx="83345" cy="793161"/>
          </a:xfrm>
          <a:prstGeom prst="rect">
            <a:avLst/>
          </a:prstGeom>
          <a:solidFill>
            <a:srgbClr val="CC1906"/>
          </a:solidFill>
          <a:ln>
            <a:solidFill>
              <a:srgbClr val="CC19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AE8635C2-3D5C-48FB-5893-318C77D14E0F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BE5EC911-70EB-FB6B-4785-90671830DBD9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solidFill>
              <a:srgbClr val="CC1906"/>
            </a:solidFill>
            <a:ln>
              <a:solidFill>
                <a:srgbClr val="CC190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58679977-C248-5C24-313F-03D81B1D51D5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solidFill>
              <a:srgbClr val="CC1906"/>
            </a:solidFill>
            <a:ln>
              <a:solidFill>
                <a:srgbClr val="CC190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7288E7C4-4CAF-1A97-0531-075609968F14}"/>
              </a:ext>
            </a:extLst>
          </p:cNvPr>
          <p:cNvSpPr txBox="1"/>
          <p:nvPr/>
        </p:nvSpPr>
        <p:spPr>
          <a:xfrm>
            <a:off x="6102733" y="4909267"/>
            <a:ext cx="5734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Book Antiqua" panose="02040602050305030304" pitchFamily="18" charset="0"/>
              </a:rPr>
              <a:t>Responsabilities</a:t>
            </a:r>
            <a:r>
              <a:rPr lang="en-US" sz="1600" dirty="0">
                <a:latin typeface="Book Antiqua" panose="02040602050305030304" pitchFamily="18" charset="0"/>
              </a:rPr>
              <a:t> were split evenly: we collaborating on every stage of the project and meeting regularly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3090FAF0-8FAF-DA5F-5CD1-4B1B9329C62C}"/>
              </a:ext>
            </a:extLst>
          </p:cNvPr>
          <p:cNvSpPr txBox="1"/>
          <p:nvPr/>
        </p:nvSpPr>
        <p:spPr>
          <a:xfrm>
            <a:off x="5592184" y="2000103"/>
            <a:ext cx="641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Book Antiqua" panose="02040602050305030304" pitchFamily="18" charset="0"/>
              </a:rPr>
              <a:t>A Class-Based Object Sorting with an Anthropomorphic Robotic Arm</a:t>
            </a:r>
            <a:endParaRPr lang="it-IT" dirty="0">
              <a:latin typeface="Book Antiqua" panose="02040602050305030304" pitchFamily="18" charset="0"/>
            </a:endParaRP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9380F7A3-3B4D-1D20-0994-815895AC619A}"/>
              </a:ext>
            </a:extLst>
          </p:cNvPr>
          <p:cNvSpPr txBox="1"/>
          <p:nvPr/>
        </p:nvSpPr>
        <p:spPr>
          <a:xfrm>
            <a:off x="5566516" y="2827484"/>
            <a:ext cx="2747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rgbClr val="C00000"/>
                </a:solidFill>
                <a:latin typeface="Book Antiqua" panose="02040602050305030304" pitchFamily="18" charset="0"/>
              </a:rPr>
              <a:t>Task Overview</a:t>
            </a:r>
            <a:r>
              <a:rPr lang="en-US" sz="1800" b="1" u="sng" dirty="0">
                <a:solidFill>
                  <a:srgbClr val="C00000"/>
                </a:solidFill>
                <a:latin typeface="Book Antiqua" panose="02040602050305030304" pitchFamily="18" charset="0"/>
              </a:rPr>
              <a:t>: 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44EDF4AC-8D53-BE26-66ED-1E75099C2C8E}"/>
              </a:ext>
            </a:extLst>
          </p:cNvPr>
          <p:cNvSpPr txBox="1"/>
          <p:nvPr/>
        </p:nvSpPr>
        <p:spPr>
          <a:xfrm>
            <a:off x="6102733" y="3311200"/>
            <a:ext cx="59056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dirty="0">
                <a:latin typeface="Book Antiqua" panose="02040602050305030304" pitchFamily="18" charset="0"/>
              </a:rPr>
              <a:t>Objects begin upright and unordered on the stand; pick each one up and place it into the silhouette that marks its assigned class position.</a:t>
            </a:r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F09102C8-01F9-FD60-14B3-C14A0707A9FA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</a:t>
            </a:r>
            <a:r>
              <a:rPr lang="it-IT" sz="1200" dirty="0" err="1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Nivriti</a:t>
            </a:r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it-IT" sz="1200" dirty="0" err="1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Raisingh</a:t>
            </a:r>
            <a:endParaRPr lang="it-IT" sz="1200" dirty="0">
              <a:solidFill>
                <a:schemeClr val="bg1">
                  <a:lumMod val="65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5EF85FF8-FAA6-7389-E08B-28BB0A7E3D0A}"/>
              </a:ext>
            </a:extLst>
          </p:cNvPr>
          <p:cNvSpPr txBox="1"/>
          <p:nvPr/>
        </p:nvSpPr>
        <p:spPr>
          <a:xfrm>
            <a:off x="4468978" y="4092894"/>
            <a:ext cx="18207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u="sng" dirty="0">
                <a:solidFill>
                  <a:srgbClr val="C00000"/>
                </a:solidFill>
                <a:latin typeface="Book Antiqua" panose="02040602050305030304" pitchFamily="18" charset="0"/>
              </a:rPr>
              <a:t>The Workflow</a:t>
            </a:r>
            <a:endParaRPr lang="it-IT" sz="1050" b="1" dirty="0"/>
          </a:p>
        </p:txBody>
      </p:sp>
      <p:pic>
        <p:nvPicPr>
          <p:cNvPr id="88" name="Immagine 87">
            <a:extLst>
              <a:ext uri="{FF2B5EF4-FFF2-40B4-BE49-F238E27FC236}">
                <a16:creationId xmlns:a16="http://schemas.microsoft.com/office/drawing/2014/main" id="{7C279058-F1E1-4AE9-9B5B-7F5D6BAC76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463" b="12463"/>
          <a:stretch/>
        </p:blipFill>
        <p:spPr>
          <a:xfrm rot="19132059">
            <a:off x="351792" y="1805937"/>
            <a:ext cx="2522114" cy="1262290"/>
          </a:xfrm>
          <a:custGeom>
            <a:avLst/>
            <a:gdLst>
              <a:gd name="connsiteX0" fmla="*/ 2367923 w 2367923"/>
              <a:gd name="connsiteY0" fmla="*/ 332861 h 1193566"/>
              <a:gd name="connsiteX1" fmla="*/ 1808313 w 2367923"/>
              <a:gd name="connsiteY1" fmla="*/ 1193566 h 1193566"/>
              <a:gd name="connsiteX2" fmla="*/ 1799347 w 2367923"/>
              <a:gd name="connsiteY2" fmla="*/ 1187120 h 1193566"/>
              <a:gd name="connsiteX3" fmla="*/ 649671 w 2367923"/>
              <a:gd name="connsiteY3" fmla="*/ 1157610 h 1193566"/>
              <a:gd name="connsiteX4" fmla="*/ 612271 w 2367923"/>
              <a:gd name="connsiteY4" fmla="*/ 1184206 h 1193566"/>
              <a:gd name="connsiteX5" fmla="*/ 0 w 2367923"/>
              <a:gd name="connsiteY5" fmla="*/ 435374 h 1193566"/>
              <a:gd name="connsiteX6" fmla="*/ 2367923 w 2367923"/>
              <a:gd name="connsiteY6" fmla="*/ 332861 h 1193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67923" h="1193566">
                <a:moveTo>
                  <a:pt x="2367923" y="332861"/>
                </a:moveTo>
                <a:lnTo>
                  <a:pt x="1808313" y="1193566"/>
                </a:lnTo>
                <a:lnTo>
                  <a:pt x="1799347" y="1187120"/>
                </a:lnTo>
                <a:cubicBezTo>
                  <a:pt x="1430021" y="946993"/>
                  <a:pt x="977846" y="949055"/>
                  <a:pt x="649671" y="1157610"/>
                </a:cubicBezTo>
                <a:lnTo>
                  <a:pt x="612271" y="1184206"/>
                </a:lnTo>
                <a:lnTo>
                  <a:pt x="0" y="435374"/>
                </a:lnTo>
                <a:cubicBezTo>
                  <a:pt x="675149" y="-104807"/>
                  <a:pt x="1631115" y="-146193"/>
                  <a:pt x="2367923" y="332861"/>
                </a:cubicBezTo>
                <a:close/>
              </a:path>
            </a:pathLst>
          </a:custGeom>
          <a:ln>
            <a:solidFill>
              <a:srgbClr val="1A1A18"/>
            </a:solidFill>
          </a:ln>
        </p:spPr>
      </p:pic>
      <p:pic>
        <p:nvPicPr>
          <p:cNvPr id="93" name="Immagine 92">
            <a:extLst>
              <a:ext uri="{FF2B5EF4-FFF2-40B4-BE49-F238E27FC236}">
                <a16:creationId xmlns:a16="http://schemas.microsoft.com/office/drawing/2014/main" id="{83FBADD2-7ADD-FC2B-88A6-9400629C86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67" b="13567"/>
          <a:stretch/>
        </p:blipFill>
        <p:spPr>
          <a:xfrm rot="10317064">
            <a:off x="1663991" y="4406578"/>
            <a:ext cx="2540073" cy="1240001"/>
          </a:xfrm>
          <a:custGeom>
            <a:avLst/>
            <a:gdLst>
              <a:gd name="connsiteX0" fmla="*/ 586199 w 2384784"/>
              <a:gd name="connsiteY0" fmla="*/ 1172490 h 1172490"/>
              <a:gd name="connsiteX1" fmla="*/ 0 w 2384784"/>
              <a:gd name="connsiteY1" fmla="*/ 381598 h 1172490"/>
              <a:gd name="connsiteX2" fmla="*/ 2384784 w 2384784"/>
              <a:gd name="connsiteY2" fmla="*/ 379414 h 1172490"/>
              <a:gd name="connsiteX3" fmla="*/ 1807502 w 2384784"/>
              <a:gd name="connsiteY3" fmla="*/ 1161265 h 1172490"/>
              <a:gd name="connsiteX4" fmla="*/ 1798759 w 2384784"/>
              <a:gd name="connsiteY4" fmla="*/ 1155218 h 1172490"/>
              <a:gd name="connsiteX5" fmla="*/ 1203979 w 2384784"/>
              <a:gd name="connsiteY5" fmla="*/ 987444 h 1172490"/>
              <a:gd name="connsiteX6" fmla="*/ 609506 w 2384784"/>
              <a:gd name="connsiteY6" fmla="*/ 1156308 h 1172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84784" h="1172490">
                <a:moveTo>
                  <a:pt x="586199" y="1172490"/>
                </a:moveTo>
                <a:lnTo>
                  <a:pt x="0" y="381598"/>
                </a:lnTo>
                <a:cubicBezTo>
                  <a:pt x="710541" y="-126393"/>
                  <a:pt x="1673315" y="-127274"/>
                  <a:pt x="2384784" y="379414"/>
                </a:cubicBezTo>
                <a:lnTo>
                  <a:pt x="1807502" y="1161265"/>
                </a:lnTo>
                <a:lnTo>
                  <a:pt x="1798759" y="1155218"/>
                </a:lnTo>
                <a:cubicBezTo>
                  <a:pt x="1628922" y="1049106"/>
                  <a:pt x="1424242" y="987242"/>
                  <a:pt x="1203979" y="987444"/>
                </a:cubicBezTo>
                <a:cubicBezTo>
                  <a:pt x="983716" y="987646"/>
                  <a:pt x="779148" y="1049884"/>
                  <a:pt x="609506" y="1156308"/>
                </a:cubicBezTo>
                <a:close/>
              </a:path>
            </a:pathLst>
          </a:custGeom>
          <a:ln>
            <a:solidFill>
              <a:srgbClr val="1A1A18"/>
            </a:solidFill>
          </a:ln>
        </p:spPr>
      </p:pic>
      <p:pic>
        <p:nvPicPr>
          <p:cNvPr id="90" name="Immagine 89">
            <a:extLst>
              <a:ext uri="{FF2B5EF4-FFF2-40B4-BE49-F238E27FC236}">
                <a16:creationId xmlns:a16="http://schemas.microsoft.com/office/drawing/2014/main" id="{5BB1FC8C-63D5-91FA-448B-AEA05ECC35C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1408" b="11408"/>
          <a:stretch/>
        </p:blipFill>
        <p:spPr>
          <a:xfrm rot="14496864">
            <a:off x="54358" y="3547034"/>
            <a:ext cx="2503265" cy="1288091"/>
          </a:xfrm>
          <a:custGeom>
            <a:avLst/>
            <a:gdLst>
              <a:gd name="connsiteX0" fmla="*/ 2366977 w 2366977"/>
              <a:gd name="connsiteY0" fmla="*/ 431378 h 1209343"/>
              <a:gd name="connsiteX1" fmla="*/ 1763350 w 2366977"/>
              <a:gd name="connsiteY1" fmla="*/ 1209343 h 1209343"/>
              <a:gd name="connsiteX2" fmla="*/ 1724760 w 2366977"/>
              <a:gd name="connsiteY2" fmla="*/ 1174543 h 1209343"/>
              <a:gd name="connsiteX3" fmla="*/ 1464476 w 2366977"/>
              <a:gd name="connsiteY3" fmla="*/ 1026400 h 1209343"/>
              <a:gd name="connsiteX4" fmla="*/ 608514 w 2366977"/>
              <a:gd name="connsiteY4" fmla="*/ 1130480 h 1209343"/>
              <a:gd name="connsiteX5" fmla="*/ 534746 w 2366977"/>
              <a:gd name="connsiteY5" fmla="*/ 1182668 h 1209343"/>
              <a:gd name="connsiteX6" fmla="*/ 0 w 2366977"/>
              <a:gd name="connsiteY6" fmla="*/ 357120 h 1209343"/>
              <a:gd name="connsiteX7" fmla="*/ 2366977 w 2366977"/>
              <a:gd name="connsiteY7" fmla="*/ 431378 h 12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66977" h="1209343">
                <a:moveTo>
                  <a:pt x="2366977" y="431378"/>
                </a:moveTo>
                <a:lnTo>
                  <a:pt x="1763350" y="1209343"/>
                </a:lnTo>
                <a:lnTo>
                  <a:pt x="1724760" y="1174543"/>
                </a:lnTo>
                <a:cubicBezTo>
                  <a:pt x="1648178" y="1112481"/>
                  <a:pt x="1560997" y="1062074"/>
                  <a:pt x="1464476" y="1026400"/>
                </a:cubicBezTo>
                <a:cubicBezTo>
                  <a:pt x="1174914" y="919378"/>
                  <a:pt x="862969" y="967752"/>
                  <a:pt x="608514" y="1130480"/>
                </a:cubicBezTo>
                <a:lnTo>
                  <a:pt x="534746" y="1182668"/>
                </a:lnTo>
                <a:lnTo>
                  <a:pt x="0" y="357120"/>
                </a:lnTo>
                <a:cubicBezTo>
                  <a:pt x="730979" y="-145110"/>
                  <a:pt x="1686563" y="-115132"/>
                  <a:pt x="2366977" y="431378"/>
                </a:cubicBezTo>
                <a:close/>
              </a:path>
            </a:pathLst>
          </a:custGeom>
          <a:ln>
            <a:solidFill>
              <a:srgbClr val="1A1A18"/>
            </a:solidFill>
          </a:ln>
        </p:spPr>
      </p:pic>
      <p:pic>
        <p:nvPicPr>
          <p:cNvPr id="85" name="Immagine 84">
            <a:extLst>
              <a:ext uri="{FF2B5EF4-FFF2-40B4-BE49-F238E27FC236}">
                <a16:creationId xmlns:a16="http://schemas.microsoft.com/office/drawing/2014/main" id="{EDED7E5D-0D84-5272-A5E3-3312D7E7A9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58" b="7758"/>
          <a:stretch/>
        </p:blipFill>
        <p:spPr>
          <a:xfrm rot="6168316">
            <a:off x="3013864" y="3114560"/>
            <a:ext cx="2478790" cy="1292408"/>
          </a:xfrm>
          <a:custGeom>
            <a:avLst/>
            <a:gdLst>
              <a:gd name="connsiteX0" fmla="*/ 0 w 2343834"/>
              <a:gd name="connsiteY0" fmla="*/ 441432 h 1213396"/>
              <a:gd name="connsiteX1" fmla="*/ 2343834 w 2343834"/>
              <a:gd name="connsiteY1" fmla="*/ 334972 h 1213396"/>
              <a:gd name="connsiteX2" fmla="*/ 1813435 w 2343834"/>
              <a:gd name="connsiteY2" fmla="*/ 1164320 h 1213396"/>
              <a:gd name="connsiteX3" fmla="*/ 1754638 w 2343834"/>
              <a:gd name="connsiteY3" fmla="*/ 1124102 h 1213396"/>
              <a:gd name="connsiteX4" fmla="*/ 906090 w 2343834"/>
              <a:gd name="connsiteY4" fmla="*/ 1033944 h 1213396"/>
              <a:gd name="connsiteX5" fmla="*/ 649372 w 2343834"/>
              <a:gd name="connsiteY5" fmla="*/ 1183193 h 1213396"/>
              <a:gd name="connsiteX6" fmla="*/ 616363 w 2343834"/>
              <a:gd name="connsiteY6" fmla="*/ 1213396 h 121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43834" h="1213396">
                <a:moveTo>
                  <a:pt x="0" y="441432"/>
                </a:moveTo>
                <a:cubicBezTo>
                  <a:pt x="669935" y="-105201"/>
                  <a:pt x="1616176" y="-148180"/>
                  <a:pt x="2343834" y="334972"/>
                </a:cubicBezTo>
                <a:lnTo>
                  <a:pt x="1813435" y="1164320"/>
                </a:lnTo>
                <a:lnTo>
                  <a:pt x="1754638" y="1124102"/>
                </a:lnTo>
                <a:cubicBezTo>
                  <a:pt x="1501427" y="967804"/>
                  <a:pt x="1192108" y="924686"/>
                  <a:pt x="906090" y="1033944"/>
                </a:cubicBezTo>
                <a:cubicBezTo>
                  <a:pt x="810752" y="1070363"/>
                  <a:pt x="724770" y="1121127"/>
                  <a:pt x="649372" y="1183193"/>
                </a:cubicBezTo>
                <a:lnTo>
                  <a:pt x="616363" y="1213396"/>
                </a:lnTo>
                <a:close/>
              </a:path>
            </a:pathLst>
          </a:custGeom>
          <a:ln>
            <a:solidFill>
              <a:srgbClr val="1A1A18"/>
            </a:solidFill>
          </a:ln>
        </p:spPr>
      </p:pic>
      <p:pic>
        <p:nvPicPr>
          <p:cNvPr id="82" name="Immagine 81">
            <a:extLst>
              <a:ext uri="{FF2B5EF4-FFF2-40B4-BE49-F238E27FC236}">
                <a16:creationId xmlns:a16="http://schemas.microsoft.com/office/drawing/2014/main" id="{6410B7BC-D82B-0A9C-640B-D55554D71CE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2" r="2662"/>
          <a:stretch/>
        </p:blipFill>
        <p:spPr>
          <a:xfrm rot="1116887">
            <a:off x="2228678" y="1535241"/>
            <a:ext cx="2494801" cy="1332279"/>
          </a:xfrm>
          <a:custGeom>
            <a:avLst/>
            <a:gdLst>
              <a:gd name="connsiteX0" fmla="*/ 300947 w 2342280"/>
              <a:gd name="connsiteY0" fmla="*/ 97195 h 1259744"/>
              <a:gd name="connsiteX1" fmla="*/ 2342280 w 2342280"/>
              <a:gd name="connsiteY1" fmla="*/ 582472 h 1259744"/>
              <a:gd name="connsiteX2" fmla="*/ 1651027 w 2342280"/>
              <a:gd name="connsiteY2" fmla="*/ 1259744 h 1259744"/>
              <a:gd name="connsiteX3" fmla="*/ 1616664 w 2342280"/>
              <a:gd name="connsiteY3" fmla="*/ 1229094 h 1259744"/>
              <a:gd name="connsiteX4" fmla="*/ 470718 w 2342280"/>
              <a:gd name="connsiteY4" fmla="*/ 1131972 h 1259744"/>
              <a:gd name="connsiteX5" fmla="*/ 461534 w 2342280"/>
              <a:gd name="connsiteY5" fmla="*/ 1137146 h 1259744"/>
              <a:gd name="connsiteX6" fmla="*/ 0 w 2342280"/>
              <a:gd name="connsiteY6" fmla="*/ 220132 h 1259744"/>
              <a:gd name="connsiteX7" fmla="*/ 300947 w 2342280"/>
              <a:gd name="connsiteY7" fmla="*/ 97195 h 1259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42280" h="1259744">
                <a:moveTo>
                  <a:pt x="300947" y="97195"/>
                </a:moveTo>
                <a:cubicBezTo>
                  <a:pt x="1016214" y="-131140"/>
                  <a:pt x="1807098" y="47703"/>
                  <a:pt x="2342280" y="582472"/>
                </a:cubicBezTo>
                <a:lnTo>
                  <a:pt x="1651027" y="1259744"/>
                </a:lnTo>
                <a:lnTo>
                  <a:pt x="1616664" y="1229094"/>
                </a:lnTo>
                <a:cubicBezTo>
                  <a:pt x="1313420" y="985708"/>
                  <a:pt x="864215" y="933924"/>
                  <a:pt x="470718" y="1131972"/>
                </a:cubicBezTo>
                <a:lnTo>
                  <a:pt x="461534" y="1137146"/>
                </a:lnTo>
                <a:lnTo>
                  <a:pt x="0" y="220132"/>
                </a:lnTo>
                <a:cubicBezTo>
                  <a:pt x="98128" y="170744"/>
                  <a:pt x="198767" y="129815"/>
                  <a:pt x="300947" y="97195"/>
                </a:cubicBezTo>
                <a:close/>
              </a:path>
            </a:pathLst>
          </a:custGeom>
          <a:ln>
            <a:solidFill>
              <a:srgbClr val="1A1A18"/>
            </a:solidFill>
          </a:ln>
        </p:spPr>
      </p:pic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FF836C75-BEE9-1808-0B5C-C5B9B0FFE6F6}"/>
              </a:ext>
            </a:extLst>
          </p:cNvPr>
          <p:cNvSpPr txBox="1"/>
          <p:nvPr/>
        </p:nvSpPr>
        <p:spPr>
          <a:xfrm>
            <a:off x="3540753" y="1354109"/>
            <a:ext cx="193934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u="sng" dirty="0">
                <a:solidFill>
                  <a:srgbClr val="C00000"/>
                </a:solidFill>
                <a:latin typeface="Book Antiqua" panose="02040602050305030304" pitchFamily="18" charset="0"/>
              </a:rPr>
              <a:t>Final Results</a:t>
            </a:r>
            <a:endParaRPr lang="it-IT" sz="1050" b="1" dirty="0"/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92F2AE6B-A4D0-CF70-EC06-A455D6B935BD}"/>
              </a:ext>
            </a:extLst>
          </p:cNvPr>
          <p:cNvSpPr txBox="1"/>
          <p:nvPr/>
        </p:nvSpPr>
        <p:spPr>
          <a:xfrm>
            <a:off x="-300537" y="1546410"/>
            <a:ext cx="193934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u="sng" dirty="0">
                <a:solidFill>
                  <a:srgbClr val="C00000"/>
                </a:solidFill>
                <a:latin typeface="Book Antiqua" panose="02040602050305030304" pitchFamily="18" charset="0"/>
              </a:rPr>
              <a:t>Motion Package</a:t>
            </a:r>
            <a:endParaRPr lang="it-IT" sz="1050" b="1" dirty="0"/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3882CED4-770F-718F-D659-79E4746A17A4}"/>
              </a:ext>
            </a:extLst>
          </p:cNvPr>
          <p:cNvSpPr txBox="1"/>
          <p:nvPr/>
        </p:nvSpPr>
        <p:spPr>
          <a:xfrm>
            <a:off x="-300537" y="5176879"/>
            <a:ext cx="193934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u="sng" dirty="0">
                <a:solidFill>
                  <a:srgbClr val="C00000"/>
                </a:solidFill>
                <a:latin typeface="Book Antiqua" panose="02040602050305030304" pitchFamily="18" charset="0"/>
              </a:rPr>
              <a:t>Planning Package</a:t>
            </a:r>
            <a:endParaRPr lang="it-IT" sz="1050" b="1" dirty="0"/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4B19DF2D-02F5-1B31-D406-315BF53BFDF6}"/>
              </a:ext>
            </a:extLst>
          </p:cNvPr>
          <p:cNvSpPr txBox="1"/>
          <p:nvPr/>
        </p:nvSpPr>
        <p:spPr>
          <a:xfrm>
            <a:off x="2153294" y="5799519"/>
            <a:ext cx="193934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u="sng" dirty="0">
                <a:solidFill>
                  <a:srgbClr val="C00000"/>
                </a:solidFill>
                <a:latin typeface="Book Antiqua" panose="02040602050305030304" pitchFamily="18" charset="0"/>
              </a:rPr>
              <a:t>Vision Package</a:t>
            </a:r>
            <a:endParaRPr lang="it-IT" sz="1050" b="1" dirty="0"/>
          </a:p>
        </p:txBody>
      </p:sp>
      <p:cxnSp>
        <p:nvCxnSpPr>
          <p:cNvPr id="55" name="Connettore diritto 54">
            <a:extLst>
              <a:ext uri="{FF2B5EF4-FFF2-40B4-BE49-F238E27FC236}">
                <a16:creationId xmlns:a16="http://schemas.microsoft.com/office/drawing/2014/main" id="{A774C0AA-C2D5-1C75-6528-6BB0501B0FB1}"/>
              </a:ext>
            </a:extLst>
          </p:cNvPr>
          <p:cNvCxnSpPr>
            <a:stCxn id="50" idx="2"/>
          </p:cNvCxnSpPr>
          <p:nvPr/>
        </p:nvCxnSpPr>
        <p:spPr>
          <a:xfrm>
            <a:off x="669137" y="1800326"/>
            <a:ext cx="270725" cy="32598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ttore diritto 55">
            <a:extLst>
              <a:ext uri="{FF2B5EF4-FFF2-40B4-BE49-F238E27FC236}">
                <a16:creationId xmlns:a16="http://schemas.microsoft.com/office/drawing/2014/main" id="{5CCB0FD3-9A38-4C05-7D62-27C912E6721D}"/>
              </a:ext>
            </a:extLst>
          </p:cNvPr>
          <p:cNvCxnSpPr>
            <a:cxnSpLocks/>
            <a:stCxn id="49" idx="2"/>
          </p:cNvCxnSpPr>
          <p:nvPr/>
        </p:nvCxnSpPr>
        <p:spPr>
          <a:xfrm flipH="1">
            <a:off x="4262080" y="1608025"/>
            <a:ext cx="248347" cy="27841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ttore diritto 58">
            <a:extLst>
              <a:ext uri="{FF2B5EF4-FFF2-40B4-BE49-F238E27FC236}">
                <a16:creationId xmlns:a16="http://schemas.microsoft.com/office/drawing/2014/main" id="{763F5154-EE17-9F67-F59D-E4A43B5B1F7F}"/>
              </a:ext>
            </a:extLst>
          </p:cNvPr>
          <p:cNvCxnSpPr>
            <a:cxnSpLocks/>
          </p:cNvCxnSpPr>
          <p:nvPr/>
        </p:nvCxnSpPr>
        <p:spPr>
          <a:xfrm>
            <a:off x="4934527" y="3936696"/>
            <a:ext cx="515491" cy="14020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ttore diritto 59">
            <a:extLst>
              <a:ext uri="{FF2B5EF4-FFF2-40B4-BE49-F238E27FC236}">
                <a16:creationId xmlns:a16="http://schemas.microsoft.com/office/drawing/2014/main" id="{0DF2887F-E92A-70FB-0526-65362436E05F}"/>
              </a:ext>
            </a:extLst>
          </p:cNvPr>
          <p:cNvCxnSpPr>
            <a:cxnSpLocks/>
            <a:endCxn id="51" idx="0"/>
          </p:cNvCxnSpPr>
          <p:nvPr/>
        </p:nvCxnSpPr>
        <p:spPr>
          <a:xfrm flipH="1">
            <a:off x="669137" y="4965954"/>
            <a:ext cx="349766" cy="21092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ttore diritto 61">
            <a:extLst>
              <a:ext uri="{FF2B5EF4-FFF2-40B4-BE49-F238E27FC236}">
                <a16:creationId xmlns:a16="http://schemas.microsoft.com/office/drawing/2014/main" id="{92E14178-4551-F337-4BAF-2D14BCD4923B}"/>
              </a:ext>
            </a:extLst>
          </p:cNvPr>
          <p:cNvCxnSpPr>
            <a:cxnSpLocks/>
            <a:endCxn id="52" idx="0"/>
          </p:cNvCxnSpPr>
          <p:nvPr/>
        </p:nvCxnSpPr>
        <p:spPr>
          <a:xfrm flipH="1">
            <a:off x="3122968" y="5592016"/>
            <a:ext cx="264499" cy="20750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igura a mano libera: forma 5">
            <a:extLst>
              <a:ext uri="{FF2B5EF4-FFF2-40B4-BE49-F238E27FC236}">
                <a16:creationId xmlns:a16="http://schemas.microsoft.com/office/drawing/2014/main" id="{31064311-0DEA-E226-1592-725EE07C55C1}"/>
              </a:ext>
            </a:extLst>
          </p:cNvPr>
          <p:cNvSpPr/>
          <p:nvPr/>
        </p:nvSpPr>
        <p:spPr>
          <a:xfrm>
            <a:off x="1589689" y="2482471"/>
            <a:ext cx="2226573" cy="2058933"/>
          </a:xfrm>
          <a:custGeom>
            <a:avLst/>
            <a:gdLst>
              <a:gd name="connsiteX0" fmla="*/ 1112532 w 2215988"/>
              <a:gd name="connsiteY0" fmla="*/ 54878 h 2058934"/>
              <a:gd name="connsiteX1" fmla="*/ 71253 w 2215988"/>
              <a:gd name="connsiteY1" fmla="*/ 1020979 h 2058934"/>
              <a:gd name="connsiteX2" fmla="*/ 1112532 w 2215988"/>
              <a:gd name="connsiteY2" fmla="*/ 1987080 h 2058934"/>
              <a:gd name="connsiteX3" fmla="*/ 2153811 w 2215988"/>
              <a:gd name="connsiteY3" fmla="*/ 1020979 h 2058934"/>
              <a:gd name="connsiteX4" fmla="*/ 1112532 w 2215988"/>
              <a:gd name="connsiteY4" fmla="*/ 54878 h 2058934"/>
              <a:gd name="connsiteX5" fmla="*/ 1107994 w 2215988"/>
              <a:gd name="connsiteY5" fmla="*/ 0 h 2058934"/>
              <a:gd name="connsiteX6" fmla="*/ 2215988 w 2215988"/>
              <a:gd name="connsiteY6" fmla="*/ 1029467 h 2058934"/>
              <a:gd name="connsiteX7" fmla="*/ 1107994 w 2215988"/>
              <a:gd name="connsiteY7" fmla="*/ 2058934 h 2058934"/>
              <a:gd name="connsiteX8" fmla="*/ 0 w 2215988"/>
              <a:gd name="connsiteY8" fmla="*/ 1029467 h 2058934"/>
              <a:gd name="connsiteX9" fmla="*/ 1107994 w 2215988"/>
              <a:gd name="connsiteY9" fmla="*/ 0 h 2058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15988" h="2058934">
                <a:moveTo>
                  <a:pt x="1112532" y="54878"/>
                </a:moveTo>
                <a:cubicBezTo>
                  <a:pt x="537449" y="54878"/>
                  <a:pt x="71253" y="487416"/>
                  <a:pt x="71253" y="1020979"/>
                </a:cubicBezTo>
                <a:cubicBezTo>
                  <a:pt x="71253" y="1554542"/>
                  <a:pt x="537449" y="1987080"/>
                  <a:pt x="1112532" y="1987080"/>
                </a:cubicBezTo>
                <a:cubicBezTo>
                  <a:pt x="1687615" y="1987080"/>
                  <a:pt x="2153811" y="1554542"/>
                  <a:pt x="2153811" y="1020979"/>
                </a:cubicBezTo>
                <a:cubicBezTo>
                  <a:pt x="2153811" y="487416"/>
                  <a:pt x="1687615" y="54878"/>
                  <a:pt x="1112532" y="54878"/>
                </a:cubicBezTo>
                <a:close/>
                <a:moveTo>
                  <a:pt x="1107994" y="0"/>
                </a:moveTo>
                <a:cubicBezTo>
                  <a:pt x="1719922" y="0"/>
                  <a:pt x="2215988" y="460908"/>
                  <a:pt x="2215988" y="1029467"/>
                </a:cubicBezTo>
                <a:cubicBezTo>
                  <a:pt x="2215988" y="1598026"/>
                  <a:pt x="1719922" y="2058934"/>
                  <a:pt x="1107994" y="2058934"/>
                </a:cubicBezTo>
                <a:cubicBezTo>
                  <a:pt x="496066" y="2058934"/>
                  <a:pt x="0" y="1598026"/>
                  <a:pt x="0" y="1029467"/>
                </a:cubicBezTo>
                <a:cubicBezTo>
                  <a:pt x="0" y="460908"/>
                  <a:pt x="496066" y="0"/>
                  <a:pt x="1107994" y="0"/>
                </a:cubicBezTo>
                <a:close/>
              </a:path>
            </a:pathLst>
          </a:custGeom>
          <a:solidFill>
            <a:srgbClr val="CC190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7A124FEF-D877-C79D-A4F3-AED4644ACCEF}"/>
              </a:ext>
            </a:extLst>
          </p:cNvPr>
          <p:cNvSpPr/>
          <p:nvPr/>
        </p:nvSpPr>
        <p:spPr>
          <a:xfrm>
            <a:off x="6155102" y="247238"/>
            <a:ext cx="5128327" cy="166199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dirty="0">
                <a:ln/>
                <a:solidFill>
                  <a:srgbClr val="C00000"/>
                </a:solidFill>
                <a:latin typeface="Book Antiqua" panose="02040602050305030304" pitchFamily="18" charset="0"/>
              </a:rPr>
              <a:t>Vision-Guided </a:t>
            </a:r>
          </a:p>
          <a:p>
            <a:pPr algn="ctr"/>
            <a:r>
              <a:rPr lang="en-US" sz="4800" b="1" dirty="0">
                <a:ln/>
                <a:solidFill>
                  <a:srgbClr val="C00000"/>
                </a:solidFill>
                <a:latin typeface="Book Antiqua" panose="02040602050305030304" pitchFamily="18" charset="0"/>
              </a:rPr>
              <a:t>Pick-and-Place</a:t>
            </a:r>
            <a:endParaRPr lang="it-IT" sz="5400" b="1" dirty="0">
              <a:ln/>
              <a:solidFill>
                <a:srgbClr val="C00000"/>
              </a:solidFill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370A6697-0B2E-3963-30DF-B53F0F4C4287}"/>
              </a:ext>
            </a:extLst>
          </p:cNvPr>
          <p:cNvSpPr txBox="1"/>
          <p:nvPr/>
        </p:nvSpPr>
        <p:spPr>
          <a:xfrm>
            <a:off x="5568084" y="4441027"/>
            <a:ext cx="2463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rgbClr val="C00000"/>
                </a:solidFill>
                <a:latin typeface="Book Antiqua" panose="02040602050305030304" pitchFamily="18" charset="0"/>
              </a:rPr>
              <a:t>Work Division</a:t>
            </a:r>
            <a:r>
              <a:rPr lang="en-US" sz="1800" b="1" u="sng" dirty="0">
                <a:solidFill>
                  <a:srgbClr val="C00000"/>
                </a:solidFill>
                <a:latin typeface="Book Antiqua" panose="02040602050305030304" pitchFamily="18" charset="0"/>
              </a:rPr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4486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30CE7E27-4968-2E3C-1D4B-0A22D1C27F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18" y="2496785"/>
            <a:ext cx="1891944" cy="1771748"/>
          </a:xfrm>
          <a:prstGeom prst="rect">
            <a:avLst/>
          </a:prstGeom>
        </p:spPr>
      </p:pic>
      <p:grpSp>
        <p:nvGrpSpPr>
          <p:cNvPr id="20" name="Gruppo 19">
            <a:extLst>
              <a:ext uri="{FF2B5EF4-FFF2-40B4-BE49-F238E27FC236}">
                <a16:creationId xmlns:a16="http://schemas.microsoft.com/office/drawing/2014/main" id="{C38C97F1-6C74-0F76-E119-BCB734E7552B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</p:grpSpPr>
        <p:sp>
          <p:nvSpPr>
            <p:cNvPr id="21" name="Rettangolo 20">
              <a:extLst>
                <a:ext uri="{FF2B5EF4-FFF2-40B4-BE49-F238E27FC236}">
                  <a16:creationId xmlns:a16="http://schemas.microsoft.com/office/drawing/2014/main" id="{CB1FEC13-1B16-96F3-07E7-9CA248944C16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solidFill>
              <a:srgbClr val="CC1906"/>
            </a:solidFill>
            <a:ln>
              <a:solidFill>
                <a:srgbClr val="CC190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2" name="Rettangolo 21">
              <a:extLst>
                <a:ext uri="{FF2B5EF4-FFF2-40B4-BE49-F238E27FC236}">
                  <a16:creationId xmlns:a16="http://schemas.microsoft.com/office/drawing/2014/main" id="{0015C95A-709A-A4E6-9A93-2063E4878BB3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solidFill>
              <a:srgbClr val="CC1906"/>
            </a:solidFill>
            <a:ln>
              <a:solidFill>
                <a:srgbClr val="CC190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0B31B0CF-52DD-C62F-6F1F-F5D457B053FF}"/>
              </a:ext>
            </a:extLst>
          </p:cNvPr>
          <p:cNvSpPr txBox="1"/>
          <p:nvPr/>
        </p:nvSpPr>
        <p:spPr>
          <a:xfrm>
            <a:off x="3603296" y="904888"/>
            <a:ext cx="5980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rgbClr val="C00000"/>
                </a:solidFill>
                <a:latin typeface="Book Antiqua" panose="02040602050305030304" pitchFamily="18" charset="0"/>
              </a:rPr>
              <a:t>The Workflow:</a:t>
            </a:r>
            <a:endParaRPr lang="en-US" sz="2400" b="1" u="sng" dirty="0">
              <a:latin typeface="Book Antiqua" panose="02040602050305030304" pitchFamily="18" charset="0"/>
            </a:endParaRP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3F6E2ECB-9DD0-69EB-F183-07A26C050C6F}"/>
              </a:ext>
            </a:extLst>
          </p:cNvPr>
          <p:cNvSpPr txBox="1"/>
          <p:nvPr/>
        </p:nvSpPr>
        <p:spPr>
          <a:xfrm>
            <a:off x="4151994" y="1329147"/>
            <a:ext cx="69271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it-IT" sz="1600" dirty="0">
                <a:latin typeface="Book Antiqua" panose="02040602050305030304" pitchFamily="18" charset="0"/>
              </a:rPr>
              <a:t>RGB-D camera → 3-D </a:t>
            </a:r>
            <a:r>
              <a:rPr lang="it-IT" sz="1600" dirty="0" err="1">
                <a:latin typeface="Book Antiqua" panose="02040602050305030304" pitchFamily="18" charset="0"/>
              </a:rPr>
              <a:t>object</a:t>
            </a:r>
            <a:r>
              <a:rPr lang="it-IT" sz="1600" dirty="0">
                <a:latin typeface="Book Antiqua" panose="02040602050305030304" pitchFamily="18" charset="0"/>
              </a:rPr>
              <a:t> </a:t>
            </a:r>
            <a:r>
              <a:rPr lang="it-IT" sz="1600" dirty="0" err="1">
                <a:latin typeface="Book Antiqua" panose="02040602050305030304" pitchFamily="18" charset="0"/>
              </a:rPr>
              <a:t>poses</a:t>
            </a:r>
            <a:endParaRPr lang="it-IT" sz="1600" dirty="0">
              <a:latin typeface="Book Antiqua" panose="0204060205030503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Book Antiqua" panose="02040602050305030304" pitchFamily="18" charset="0"/>
              </a:rPr>
              <a:t>FSM picks tactic, sends start/goal poses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Book Antiqua" panose="02040602050305030304" pitchFamily="18" charset="0"/>
              </a:rPr>
              <a:t>Motion stack builds trajectory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Book Antiqua" panose="02040602050305030304" pitchFamily="18" charset="0"/>
              </a:rPr>
              <a:t>UR5 executes, repeats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6B92449E-4B5C-D71C-43CC-A6D1A0C5E3D1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</a:t>
            </a:r>
            <a:r>
              <a:rPr lang="it-IT" sz="1200" dirty="0" err="1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Nivriti</a:t>
            </a:r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it-IT" sz="1200" dirty="0" err="1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Raisingh</a:t>
            </a:r>
            <a:endParaRPr lang="it-IT" sz="1200" dirty="0">
              <a:solidFill>
                <a:schemeClr val="bg1">
                  <a:lumMod val="65000"/>
                </a:schemeClr>
              </a:solidFill>
              <a:latin typeface="Book Antiqua" panose="02040602050305030304" pitchFamily="18" charset="0"/>
            </a:endParaRPr>
          </a:p>
        </p:txBody>
      </p:sp>
      <p:cxnSp>
        <p:nvCxnSpPr>
          <p:cNvPr id="36" name="Connettore diritto 35">
            <a:extLst>
              <a:ext uri="{FF2B5EF4-FFF2-40B4-BE49-F238E27FC236}">
                <a16:creationId xmlns:a16="http://schemas.microsoft.com/office/drawing/2014/main" id="{05242B51-868D-F512-7BCF-30F368FB1368}"/>
              </a:ext>
            </a:extLst>
          </p:cNvPr>
          <p:cNvCxnSpPr>
            <a:cxnSpLocks/>
          </p:cNvCxnSpPr>
          <p:nvPr/>
        </p:nvCxnSpPr>
        <p:spPr>
          <a:xfrm flipV="1">
            <a:off x="2268042" y="1277977"/>
            <a:ext cx="1435857" cy="31441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Immagine 94">
            <a:extLst>
              <a:ext uri="{FF2B5EF4-FFF2-40B4-BE49-F238E27FC236}">
                <a16:creationId xmlns:a16="http://schemas.microsoft.com/office/drawing/2014/main" id="{F0D055A2-0028-6F3D-6C82-E551CE494B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463" b="12463"/>
          <a:stretch/>
        </p:blipFill>
        <p:spPr>
          <a:xfrm rot="14203024">
            <a:off x="-1596215" y="3782975"/>
            <a:ext cx="2522113" cy="1262291"/>
          </a:xfrm>
          <a:custGeom>
            <a:avLst/>
            <a:gdLst>
              <a:gd name="connsiteX0" fmla="*/ 2367923 w 2367923"/>
              <a:gd name="connsiteY0" fmla="*/ 332861 h 1193566"/>
              <a:gd name="connsiteX1" fmla="*/ 1808313 w 2367923"/>
              <a:gd name="connsiteY1" fmla="*/ 1193566 h 1193566"/>
              <a:gd name="connsiteX2" fmla="*/ 1799347 w 2367923"/>
              <a:gd name="connsiteY2" fmla="*/ 1187120 h 1193566"/>
              <a:gd name="connsiteX3" fmla="*/ 649671 w 2367923"/>
              <a:gd name="connsiteY3" fmla="*/ 1157610 h 1193566"/>
              <a:gd name="connsiteX4" fmla="*/ 612271 w 2367923"/>
              <a:gd name="connsiteY4" fmla="*/ 1184206 h 1193566"/>
              <a:gd name="connsiteX5" fmla="*/ 0 w 2367923"/>
              <a:gd name="connsiteY5" fmla="*/ 435374 h 1193566"/>
              <a:gd name="connsiteX6" fmla="*/ 2367923 w 2367923"/>
              <a:gd name="connsiteY6" fmla="*/ 332861 h 1193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67923" h="1193566">
                <a:moveTo>
                  <a:pt x="2367923" y="332861"/>
                </a:moveTo>
                <a:lnTo>
                  <a:pt x="1808313" y="1193566"/>
                </a:lnTo>
                <a:lnTo>
                  <a:pt x="1799347" y="1187120"/>
                </a:lnTo>
                <a:cubicBezTo>
                  <a:pt x="1430021" y="946993"/>
                  <a:pt x="977846" y="949055"/>
                  <a:pt x="649671" y="1157610"/>
                </a:cubicBezTo>
                <a:lnTo>
                  <a:pt x="612271" y="1184206"/>
                </a:lnTo>
                <a:lnTo>
                  <a:pt x="0" y="435374"/>
                </a:lnTo>
                <a:cubicBezTo>
                  <a:pt x="675149" y="-104807"/>
                  <a:pt x="1631115" y="-146193"/>
                  <a:pt x="2367923" y="332861"/>
                </a:cubicBezTo>
                <a:close/>
              </a:path>
            </a:pathLst>
          </a:custGeom>
          <a:ln>
            <a:solidFill>
              <a:srgbClr val="1A1A18"/>
            </a:solidFill>
          </a:ln>
        </p:spPr>
      </p:pic>
      <p:pic>
        <p:nvPicPr>
          <p:cNvPr id="97" name="Immagine 96">
            <a:extLst>
              <a:ext uri="{FF2B5EF4-FFF2-40B4-BE49-F238E27FC236}">
                <a16:creationId xmlns:a16="http://schemas.microsoft.com/office/drawing/2014/main" id="{31362B4D-D8B6-1FA2-2144-A9D3D94799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67" b="13567"/>
          <a:stretch/>
        </p:blipFill>
        <p:spPr>
          <a:xfrm rot="5388029">
            <a:off x="1140473" y="2838968"/>
            <a:ext cx="2540073" cy="1240001"/>
          </a:xfrm>
          <a:custGeom>
            <a:avLst/>
            <a:gdLst>
              <a:gd name="connsiteX0" fmla="*/ 586199 w 2384784"/>
              <a:gd name="connsiteY0" fmla="*/ 1172490 h 1172490"/>
              <a:gd name="connsiteX1" fmla="*/ 0 w 2384784"/>
              <a:gd name="connsiteY1" fmla="*/ 381598 h 1172490"/>
              <a:gd name="connsiteX2" fmla="*/ 2384784 w 2384784"/>
              <a:gd name="connsiteY2" fmla="*/ 379414 h 1172490"/>
              <a:gd name="connsiteX3" fmla="*/ 1807502 w 2384784"/>
              <a:gd name="connsiteY3" fmla="*/ 1161265 h 1172490"/>
              <a:gd name="connsiteX4" fmla="*/ 1798759 w 2384784"/>
              <a:gd name="connsiteY4" fmla="*/ 1155218 h 1172490"/>
              <a:gd name="connsiteX5" fmla="*/ 1203979 w 2384784"/>
              <a:gd name="connsiteY5" fmla="*/ 987444 h 1172490"/>
              <a:gd name="connsiteX6" fmla="*/ 609506 w 2384784"/>
              <a:gd name="connsiteY6" fmla="*/ 1156308 h 1172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84784" h="1172490">
                <a:moveTo>
                  <a:pt x="586199" y="1172490"/>
                </a:moveTo>
                <a:lnTo>
                  <a:pt x="0" y="381598"/>
                </a:lnTo>
                <a:cubicBezTo>
                  <a:pt x="710541" y="-126393"/>
                  <a:pt x="1673315" y="-127274"/>
                  <a:pt x="2384784" y="379414"/>
                </a:cubicBezTo>
                <a:lnTo>
                  <a:pt x="1807502" y="1161265"/>
                </a:lnTo>
                <a:lnTo>
                  <a:pt x="1798759" y="1155218"/>
                </a:lnTo>
                <a:cubicBezTo>
                  <a:pt x="1628922" y="1049106"/>
                  <a:pt x="1424242" y="987242"/>
                  <a:pt x="1203979" y="987444"/>
                </a:cubicBezTo>
                <a:cubicBezTo>
                  <a:pt x="983716" y="987646"/>
                  <a:pt x="779148" y="1049884"/>
                  <a:pt x="609506" y="1156308"/>
                </a:cubicBezTo>
                <a:close/>
              </a:path>
            </a:pathLst>
          </a:custGeom>
          <a:ln>
            <a:solidFill>
              <a:srgbClr val="1A1A18"/>
            </a:solidFill>
          </a:ln>
        </p:spPr>
      </p:pic>
      <p:pic>
        <p:nvPicPr>
          <p:cNvPr id="98" name="Immagine 97">
            <a:extLst>
              <a:ext uri="{FF2B5EF4-FFF2-40B4-BE49-F238E27FC236}">
                <a16:creationId xmlns:a16="http://schemas.microsoft.com/office/drawing/2014/main" id="{68F9A066-F002-E2B2-7A45-81FA736E8F0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408" b="11408"/>
          <a:stretch/>
        </p:blipFill>
        <p:spPr>
          <a:xfrm rot="9567829">
            <a:off x="108864" y="4313602"/>
            <a:ext cx="2503266" cy="1288091"/>
          </a:xfrm>
          <a:custGeom>
            <a:avLst/>
            <a:gdLst>
              <a:gd name="connsiteX0" fmla="*/ 2366977 w 2366977"/>
              <a:gd name="connsiteY0" fmla="*/ 431378 h 1209343"/>
              <a:gd name="connsiteX1" fmla="*/ 1763350 w 2366977"/>
              <a:gd name="connsiteY1" fmla="*/ 1209343 h 1209343"/>
              <a:gd name="connsiteX2" fmla="*/ 1724760 w 2366977"/>
              <a:gd name="connsiteY2" fmla="*/ 1174543 h 1209343"/>
              <a:gd name="connsiteX3" fmla="*/ 1464476 w 2366977"/>
              <a:gd name="connsiteY3" fmla="*/ 1026400 h 1209343"/>
              <a:gd name="connsiteX4" fmla="*/ 608514 w 2366977"/>
              <a:gd name="connsiteY4" fmla="*/ 1130480 h 1209343"/>
              <a:gd name="connsiteX5" fmla="*/ 534746 w 2366977"/>
              <a:gd name="connsiteY5" fmla="*/ 1182668 h 1209343"/>
              <a:gd name="connsiteX6" fmla="*/ 0 w 2366977"/>
              <a:gd name="connsiteY6" fmla="*/ 357120 h 1209343"/>
              <a:gd name="connsiteX7" fmla="*/ 2366977 w 2366977"/>
              <a:gd name="connsiteY7" fmla="*/ 431378 h 12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66977" h="1209343">
                <a:moveTo>
                  <a:pt x="2366977" y="431378"/>
                </a:moveTo>
                <a:lnTo>
                  <a:pt x="1763350" y="1209343"/>
                </a:lnTo>
                <a:lnTo>
                  <a:pt x="1724760" y="1174543"/>
                </a:lnTo>
                <a:cubicBezTo>
                  <a:pt x="1648178" y="1112481"/>
                  <a:pt x="1560997" y="1062074"/>
                  <a:pt x="1464476" y="1026400"/>
                </a:cubicBezTo>
                <a:cubicBezTo>
                  <a:pt x="1174914" y="919378"/>
                  <a:pt x="862969" y="967752"/>
                  <a:pt x="608514" y="1130480"/>
                </a:cubicBezTo>
                <a:lnTo>
                  <a:pt x="534746" y="1182668"/>
                </a:lnTo>
                <a:lnTo>
                  <a:pt x="0" y="357120"/>
                </a:lnTo>
                <a:cubicBezTo>
                  <a:pt x="730979" y="-145110"/>
                  <a:pt x="1686563" y="-115132"/>
                  <a:pt x="2366977" y="431378"/>
                </a:cubicBezTo>
                <a:close/>
              </a:path>
            </a:pathLst>
          </a:custGeom>
          <a:ln>
            <a:solidFill>
              <a:srgbClr val="1A1A18"/>
            </a:solidFill>
          </a:ln>
        </p:spPr>
      </p:pic>
      <p:pic>
        <p:nvPicPr>
          <p:cNvPr id="99" name="Immagine 98">
            <a:extLst>
              <a:ext uri="{FF2B5EF4-FFF2-40B4-BE49-F238E27FC236}">
                <a16:creationId xmlns:a16="http://schemas.microsoft.com/office/drawing/2014/main" id="{BF4B8231-EDE3-52D9-2C42-E3775889B0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58" b="7758"/>
          <a:stretch/>
        </p:blipFill>
        <p:spPr>
          <a:xfrm rot="1239281">
            <a:off x="94922" y="1339324"/>
            <a:ext cx="2478790" cy="1292408"/>
          </a:xfrm>
          <a:custGeom>
            <a:avLst/>
            <a:gdLst>
              <a:gd name="connsiteX0" fmla="*/ 0 w 2343834"/>
              <a:gd name="connsiteY0" fmla="*/ 441432 h 1213396"/>
              <a:gd name="connsiteX1" fmla="*/ 2343834 w 2343834"/>
              <a:gd name="connsiteY1" fmla="*/ 334972 h 1213396"/>
              <a:gd name="connsiteX2" fmla="*/ 1813435 w 2343834"/>
              <a:gd name="connsiteY2" fmla="*/ 1164320 h 1213396"/>
              <a:gd name="connsiteX3" fmla="*/ 1754638 w 2343834"/>
              <a:gd name="connsiteY3" fmla="*/ 1124102 h 1213396"/>
              <a:gd name="connsiteX4" fmla="*/ 906090 w 2343834"/>
              <a:gd name="connsiteY4" fmla="*/ 1033944 h 1213396"/>
              <a:gd name="connsiteX5" fmla="*/ 649372 w 2343834"/>
              <a:gd name="connsiteY5" fmla="*/ 1183193 h 1213396"/>
              <a:gd name="connsiteX6" fmla="*/ 616363 w 2343834"/>
              <a:gd name="connsiteY6" fmla="*/ 1213396 h 121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43834" h="1213396">
                <a:moveTo>
                  <a:pt x="0" y="441432"/>
                </a:moveTo>
                <a:cubicBezTo>
                  <a:pt x="669935" y="-105201"/>
                  <a:pt x="1616176" y="-148180"/>
                  <a:pt x="2343834" y="334972"/>
                </a:cubicBezTo>
                <a:lnTo>
                  <a:pt x="1813435" y="1164320"/>
                </a:lnTo>
                <a:lnTo>
                  <a:pt x="1754638" y="1124102"/>
                </a:lnTo>
                <a:cubicBezTo>
                  <a:pt x="1501427" y="967804"/>
                  <a:pt x="1192108" y="924686"/>
                  <a:pt x="906090" y="1033944"/>
                </a:cubicBezTo>
                <a:cubicBezTo>
                  <a:pt x="810752" y="1070363"/>
                  <a:pt x="724770" y="1121127"/>
                  <a:pt x="649372" y="1183193"/>
                </a:cubicBezTo>
                <a:lnTo>
                  <a:pt x="616363" y="1213396"/>
                </a:lnTo>
                <a:close/>
              </a:path>
            </a:pathLst>
          </a:custGeom>
          <a:ln>
            <a:solidFill>
              <a:srgbClr val="1A1A18"/>
            </a:solidFill>
          </a:ln>
        </p:spPr>
      </p:pic>
      <p:pic>
        <p:nvPicPr>
          <p:cNvPr id="100" name="Immagine 99">
            <a:extLst>
              <a:ext uri="{FF2B5EF4-FFF2-40B4-BE49-F238E27FC236}">
                <a16:creationId xmlns:a16="http://schemas.microsoft.com/office/drawing/2014/main" id="{3E79219C-430C-D0FF-DFD7-C0470942BF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2" r="2662"/>
          <a:stretch/>
        </p:blipFill>
        <p:spPr>
          <a:xfrm rot="17787852">
            <a:off x="-1561592" y="1870020"/>
            <a:ext cx="2494801" cy="1332279"/>
          </a:xfrm>
          <a:custGeom>
            <a:avLst/>
            <a:gdLst>
              <a:gd name="connsiteX0" fmla="*/ 300947 w 2342280"/>
              <a:gd name="connsiteY0" fmla="*/ 97195 h 1259744"/>
              <a:gd name="connsiteX1" fmla="*/ 2342280 w 2342280"/>
              <a:gd name="connsiteY1" fmla="*/ 582472 h 1259744"/>
              <a:gd name="connsiteX2" fmla="*/ 1651027 w 2342280"/>
              <a:gd name="connsiteY2" fmla="*/ 1259744 h 1259744"/>
              <a:gd name="connsiteX3" fmla="*/ 1616664 w 2342280"/>
              <a:gd name="connsiteY3" fmla="*/ 1229094 h 1259744"/>
              <a:gd name="connsiteX4" fmla="*/ 470718 w 2342280"/>
              <a:gd name="connsiteY4" fmla="*/ 1131972 h 1259744"/>
              <a:gd name="connsiteX5" fmla="*/ 461534 w 2342280"/>
              <a:gd name="connsiteY5" fmla="*/ 1137146 h 1259744"/>
              <a:gd name="connsiteX6" fmla="*/ 0 w 2342280"/>
              <a:gd name="connsiteY6" fmla="*/ 220132 h 1259744"/>
              <a:gd name="connsiteX7" fmla="*/ 300947 w 2342280"/>
              <a:gd name="connsiteY7" fmla="*/ 97195 h 1259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42280" h="1259744">
                <a:moveTo>
                  <a:pt x="300947" y="97195"/>
                </a:moveTo>
                <a:cubicBezTo>
                  <a:pt x="1016214" y="-131140"/>
                  <a:pt x="1807098" y="47703"/>
                  <a:pt x="2342280" y="582472"/>
                </a:cubicBezTo>
                <a:lnTo>
                  <a:pt x="1651027" y="1259744"/>
                </a:lnTo>
                <a:lnTo>
                  <a:pt x="1616664" y="1229094"/>
                </a:lnTo>
                <a:cubicBezTo>
                  <a:pt x="1313420" y="985708"/>
                  <a:pt x="864215" y="933924"/>
                  <a:pt x="470718" y="1131972"/>
                </a:cubicBezTo>
                <a:lnTo>
                  <a:pt x="461534" y="1137146"/>
                </a:lnTo>
                <a:lnTo>
                  <a:pt x="0" y="220132"/>
                </a:lnTo>
                <a:cubicBezTo>
                  <a:pt x="98128" y="170744"/>
                  <a:pt x="198767" y="129815"/>
                  <a:pt x="300947" y="97195"/>
                </a:cubicBezTo>
                <a:close/>
              </a:path>
            </a:pathLst>
          </a:custGeom>
          <a:ln>
            <a:solidFill>
              <a:srgbClr val="1A1A18"/>
            </a:solidFill>
          </a:ln>
        </p:spPr>
      </p:pic>
      <p:sp>
        <p:nvSpPr>
          <p:cNvPr id="2" name="Figura a mano libera: forma 1">
            <a:extLst>
              <a:ext uri="{FF2B5EF4-FFF2-40B4-BE49-F238E27FC236}">
                <a16:creationId xmlns:a16="http://schemas.microsoft.com/office/drawing/2014/main" id="{6F4F5261-F117-3C3B-557D-917403F1D8DF}"/>
              </a:ext>
            </a:extLst>
          </p:cNvPr>
          <p:cNvSpPr/>
          <p:nvPr/>
        </p:nvSpPr>
        <p:spPr>
          <a:xfrm>
            <a:off x="-160256" y="2337847"/>
            <a:ext cx="2097301" cy="2257245"/>
          </a:xfrm>
          <a:custGeom>
            <a:avLst/>
            <a:gdLst>
              <a:gd name="connsiteX0" fmla="*/ 1112532 w 2215988"/>
              <a:gd name="connsiteY0" fmla="*/ 54878 h 2058934"/>
              <a:gd name="connsiteX1" fmla="*/ 71253 w 2215988"/>
              <a:gd name="connsiteY1" fmla="*/ 1020979 h 2058934"/>
              <a:gd name="connsiteX2" fmla="*/ 1112532 w 2215988"/>
              <a:gd name="connsiteY2" fmla="*/ 1987080 h 2058934"/>
              <a:gd name="connsiteX3" fmla="*/ 2153811 w 2215988"/>
              <a:gd name="connsiteY3" fmla="*/ 1020979 h 2058934"/>
              <a:gd name="connsiteX4" fmla="*/ 1112532 w 2215988"/>
              <a:gd name="connsiteY4" fmla="*/ 54878 h 2058934"/>
              <a:gd name="connsiteX5" fmla="*/ 1107994 w 2215988"/>
              <a:gd name="connsiteY5" fmla="*/ 0 h 2058934"/>
              <a:gd name="connsiteX6" fmla="*/ 2215988 w 2215988"/>
              <a:gd name="connsiteY6" fmla="*/ 1029467 h 2058934"/>
              <a:gd name="connsiteX7" fmla="*/ 1107994 w 2215988"/>
              <a:gd name="connsiteY7" fmla="*/ 2058934 h 2058934"/>
              <a:gd name="connsiteX8" fmla="*/ 0 w 2215988"/>
              <a:gd name="connsiteY8" fmla="*/ 1029467 h 2058934"/>
              <a:gd name="connsiteX9" fmla="*/ 1107994 w 2215988"/>
              <a:gd name="connsiteY9" fmla="*/ 0 h 2058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15988" h="2058934">
                <a:moveTo>
                  <a:pt x="1112532" y="54878"/>
                </a:moveTo>
                <a:cubicBezTo>
                  <a:pt x="537449" y="54878"/>
                  <a:pt x="71253" y="487416"/>
                  <a:pt x="71253" y="1020979"/>
                </a:cubicBezTo>
                <a:cubicBezTo>
                  <a:pt x="71253" y="1554542"/>
                  <a:pt x="537449" y="1987080"/>
                  <a:pt x="1112532" y="1987080"/>
                </a:cubicBezTo>
                <a:cubicBezTo>
                  <a:pt x="1687615" y="1987080"/>
                  <a:pt x="2153811" y="1554542"/>
                  <a:pt x="2153811" y="1020979"/>
                </a:cubicBezTo>
                <a:cubicBezTo>
                  <a:pt x="2153811" y="487416"/>
                  <a:pt x="1687615" y="54878"/>
                  <a:pt x="1112532" y="54878"/>
                </a:cubicBezTo>
                <a:close/>
                <a:moveTo>
                  <a:pt x="1107994" y="0"/>
                </a:moveTo>
                <a:cubicBezTo>
                  <a:pt x="1719922" y="0"/>
                  <a:pt x="2215988" y="460908"/>
                  <a:pt x="2215988" y="1029467"/>
                </a:cubicBezTo>
                <a:cubicBezTo>
                  <a:pt x="2215988" y="1598026"/>
                  <a:pt x="1719922" y="2058934"/>
                  <a:pt x="1107994" y="2058934"/>
                </a:cubicBezTo>
                <a:cubicBezTo>
                  <a:pt x="496066" y="2058934"/>
                  <a:pt x="0" y="1598026"/>
                  <a:pt x="0" y="1029467"/>
                </a:cubicBezTo>
                <a:cubicBezTo>
                  <a:pt x="0" y="460908"/>
                  <a:pt x="496066" y="0"/>
                  <a:pt x="1107994" y="0"/>
                </a:cubicBezTo>
                <a:close/>
              </a:path>
            </a:pathLst>
          </a:custGeom>
          <a:solidFill>
            <a:srgbClr val="CC190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58FD90A6-1840-F7EE-8144-8EE85B577725}"/>
              </a:ext>
            </a:extLst>
          </p:cNvPr>
          <p:cNvSpPr/>
          <p:nvPr/>
        </p:nvSpPr>
        <p:spPr>
          <a:xfrm>
            <a:off x="10314105" y="171698"/>
            <a:ext cx="1651413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ln/>
                <a:solidFill>
                  <a:srgbClr val="C00000"/>
                </a:solidFill>
                <a:latin typeface="Book Antiqua" panose="02040602050305030304" pitchFamily="18" charset="0"/>
              </a:rPr>
              <a:t>Vision-Guided </a:t>
            </a:r>
          </a:p>
          <a:p>
            <a:pPr algn="ctr"/>
            <a:r>
              <a:rPr lang="en-US" sz="1400" b="1" dirty="0">
                <a:ln/>
                <a:solidFill>
                  <a:srgbClr val="C00000"/>
                </a:solidFill>
                <a:latin typeface="Book Antiqua" panose="02040602050305030304" pitchFamily="18" charset="0"/>
              </a:rPr>
              <a:t>Pick-and-Place</a:t>
            </a:r>
            <a:endParaRPr lang="it-IT" sz="1600" b="1" dirty="0">
              <a:ln/>
              <a:solidFill>
                <a:srgbClr val="C00000"/>
              </a:solidFill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B98524C-C315-1AF0-5ABD-EC0424538F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5807" y="2389682"/>
            <a:ext cx="6330626" cy="390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216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13856-68ED-6255-DB06-05CE568FD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A92736A-76C5-19E3-5B45-8B8BCC5EDD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6" y="2358566"/>
            <a:ext cx="1891944" cy="1771748"/>
          </a:xfrm>
          <a:prstGeom prst="rect">
            <a:avLst/>
          </a:prstGeom>
        </p:spPr>
      </p:pic>
      <p:grpSp>
        <p:nvGrpSpPr>
          <p:cNvPr id="20" name="Gruppo 19">
            <a:extLst>
              <a:ext uri="{FF2B5EF4-FFF2-40B4-BE49-F238E27FC236}">
                <a16:creationId xmlns:a16="http://schemas.microsoft.com/office/drawing/2014/main" id="{5866BB90-5647-1ABA-378F-D4E4222D46AA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</p:grpSpPr>
        <p:sp>
          <p:nvSpPr>
            <p:cNvPr id="21" name="Rettangolo 20">
              <a:extLst>
                <a:ext uri="{FF2B5EF4-FFF2-40B4-BE49-F238E27FC236}">
                  <a16:creationId xmlns:a16="http://schemas.microsoft.com/office/drawing/2014/main" id="{82369560-3931-FCEA-CFFA-E2ED509B9B89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solidFill>
              <a:srgbClr val="CC1906"/>
            </a:solidFill>
            <a:ln>
              <a:solidFill>
                <a:srgbClr val="CC190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2" name="Rettangolo 21">
              <a:extLst>
                <a:ext uri="{FF2B5EF4-FFF2-40B4-BE49-F238E27FC236}">
                  <a16:creationId xmlns:a16="http://schemas.microsoft.com/office/drawing/2014/main" id="{92ED0526-13A0-336B-BB68-6C659FAB1DE6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solidFill>
              <a:srgbClr val="CC1906"/>
            </a:solidFill>
            <a:ln>
              <a:solidFill>
                <a:srgbClr val="CC190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3F5A9DB1-731E-7CAE-D133-E8E4358D58BB}"/>
              </a:ext>
            </a:extLst>
          </p:cNvPr>
          <p:cNvSpPr txBox="1"/>
          <p:nvPr/>
        </p:nvSpPr>
        <p:spPr>
          <a:xfrm>
            <a:off x="3603296" y="904888"/>
            <a:ext cx="5980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rgbClr val="C00000"/>
                </a:solidFill>
                <a:latin typeface="Book Antiqua" panose="02040602050305030304" pitchFamily="18" charset="0"/>
              </a:rPr>
              <a:t>Vision Package</a:t>
            </a:r>
            <a:endParaRPr lang="en-US" sz="2400" b="1" u="sng" dirty="0">
              <a:latin typeface="Book Antiqua" panose="02040602050305030304" pitchFamily="18" charset="0"/>
            </a:endParaRP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5DF7D302-A2BD-2E99-D788-ED682A38D524}"/>
              </a:ext>
            </a:extLst>
          </p:cNvPr>
          <p:cNvSpPr txBox="1"/>
          <p:nvPr/>
        </p:nvSpPr>
        <p:spPr>
          <a:xfrm>
            <a:off x="4151994" y="1329147"/>
            <a:ext cx="69271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Book Antiqua" panose="02040602050305030304" pitchFamily="18" charset="0"/>
              </a:rPr>
              <a:t>Fine-tuned </a:t>
            </a:r>
            <a:r>
              <a:rPr lang="en-US" sz="1600" b="1" dirty="0">
                <a:latin typeface="Book Antiqua" panose="02040602050305030304" pitchFamily="18" charset="0"/>
              </a:rPr>
              <a:t>YOLOv11-small</a:t>
            </a:r>
            <a:r>
              <a:rPr lang="en-US" sz="1600" dirty="0">
                <a:latin typeface="Book Antiqua" panose="02040602050305030304" pitchFamily="18" charset="0"/>
              </a:rPr>
              <a:t> on course dataset → </a:t>
            </a:r>
            <a:r>
              <a:rPr lang="en-US" sz="1600" b="1" dirty="0">
                <a:latin typeface="Book Antiqua" panose="02040602050305030304" pitchFamily="18" charset="0"/>
              </a:rPr>
              <a:t>87 % precision, 76 % recall</a:t>
            </a:r>
            <a:r>
              <a:rPr lang="en-US" sz="1600" dirty="0">
                <a:latin typeface="Book Antiqua" panose="02040602050305030304" pitchFamily="18" charset="0"/>
              </a:rPr>
              <a:t>; chosen for best speed/accuracy.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3A40378C-438A-12F6-B0DD-67B04F781055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</a:t>
            </a:r>
            <a:r>
              <a:rPr lang="it-IT" sz="1200" dirty="0" err="1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Nivriti</a:t>
            </a:r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it-IT" sz="1200" dirty="0" err="1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Raisingh</a:t>
            </a:r>
            <a:endParaRPr lang="it-IT" sz="1200" dirty="0">
              <a:solidFill>
                <a:schemeClr val="bg1">
                  <a:lumMod val="65000"/>
                </a:schemeClr>
              </a:solidFill>
              <a:latin typeface="Book Antiqua" panose="02040602050305030304" pitchFamily="18" charset="0"/>
            </a:endParaRPr>
          </a:p>
        </p:txBody>
      </p:sp>
      <p:cxnSp>
        <p:nvCxnSpPr>
          <p:cNvPr id="36" name="Connettore diritto 35">
            <a:extLst>
              <a:ext uri="{FF2B5EF4-FFF2-40B4-BE49-F238E27FC236}">
                <a16:creationId xmlns:a16="http://schemas.microsoft.com/office/drawing/2014/main" id="{FB34C3D5-6C9A-1571-734F-88AC112BF9B5}"/>
              </a:ext>
            </a:extLst>
          </p:cNvPr>
          <p:cNvCxnSpPr>
            <a:cxnSpLocks/>
          </p:cNvCxnSpPr>
          <p:nvPr/>
        </p:nvCxnSpPr>
        <p:spPr>
          <a:xfrm flipV="1">
            <a:off x="2268042" y="1277977"/>
            <a:ext cx="1435857" cy="31441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Immagine 94">
            <a:extLst>
              <a:ext uri="{FF2B5EF4-FFF2-40B4-BE49-F238E27FC236}">
                <a16:creationId xmlns:a16="http://schemas.microsoft.com/office/drawing/2014/main" id="{C0CAB699-BC45-D9F6-583B-505B7E7262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463" b="12463"/>
          <a:stretch/>
        </p:blipFill>
        <p:spPr>
          <a:xfrm rot="11218916">
            <a:off x="-403832" y="4278601"/>
            <a:ext cx="2522113" cy="1262291"/>
          </a:xfrm>
          <a:custGeom>
            <a:avLst/>
            <a:gdLst>
              <a:gd name="connsiteX0" fmla="*/ 2367923 w 2367923"/>
              <a:gd name="connsiteY0" fmla="*/ 332861 h 1193566"/>
              <a:gd name="connsiteX1" fmla="*/ 1808313 w 2367923"/>
              <a:gd name="connsiteY1" fmla="*/ 1193566 h 1193566"/>
              <a:gd name="connsiteX2" fmla="*/ 1799347 w 2367923"/>
              <a:gd name="connsiteY2" fmla="*/ 1187120 h 1193566"/>
              <a:gd name="connsiteX3" fmla="*/ 649671 w 2367923"/>
              <a:gd name="connsiteY3" fmla="*/ 1157610 h 1193566"/>
              <a:gd name="connsiteX4" fmla="*/ 612271 w 2367923"/>
              <a:gd name="connsiteY4" fmla="*/ 1184206 h 1193566"/>
              <a:gd name="connsiteX5" fmla="*/ 0 w 2367923"/>
              <a:gd name="connsiteY5" fmla="*/ 435374 h 1193566"/>
              <a:gd name="connsiteX6" fmla="*/ 2367923 w 2367923"/>
              <a:gd name="connsiteY6" fmla="*/ 332861 h 1193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67923" h="1193566">
                <a:moveTo>
                  <a:pt x="2367923" y="332861"/>
                </a:moveTo>
                <a:lnTo>
                  <a:pt x="1808313" y="1193566"/>
                </a:lnTo>
                <a:lnTo>
                  <a:pt x="1799347" y="1187120"/>
                </a:lnTo>
                <a:cubicBezTo>
                  <a:pt x="1430021" y="946993"/>
                  <a:pt x="977846" y="949055"/>
                  <a:pt x="649671" y="1157610"/>
                </a:cubicBezTo>
                <a:lnTo>
                  <a:pt x="612271" y="1184206"/>
                </a:lnTo>
                <a:lnTo>
                  <a:pt x="0" y="435374"/>
                </a:lnTo>
                <a:cubicBezTo>
                  <a:pt x="675149" y="-104807"/>
                  <a:pt x="1631115" y="-146193"/>
                  <a:pt x="2367923" y="332861"/>
                </a:cubicBezTo>
                <a:close/>
              </a:path>
            </a:pathLst>
          </a:custGeom>
          <a:ln>
            <a:solidFill>
              <a:srgbClr val="1A1A18"/>
            </a:solidFill>
          </a:ln>
        </p:spPr>
      </p:pic>
      <p:pic>
        <p:nvPicPr>
          <p:cNvPr id="97" name="Immagine 96">
            <a:extLst>
              <a:ext uri="{FF2B5EF4-FFF2-40B4-BE49-F238E27FC236}">
                <a16:creationId xmlns:a16="http://schemas.microsoft.com/office/drawing/2014/main" id="{C601249C-E4C6-CCEE-8F94-7A2BEEEBE6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67" b="13567"/>
          <a:stretch/>
        </p:blipFill>
        <p:spPr>
          <a:xfrm rot="2403921">
            <a:off x="632930" y="1577287"/>
            <a:ext cx="2540073" cy="1240001"/>
          </a:xfrm>
          <a:custGeom>
            <a:avLst/>
            <a:gdLst>
              <a:gd name="connsiteX0" fmla="*/ 586199 w 2384784"/>
              <a:gd name="connsiteY0" fmla="*/ 1172490 h 1172490"/>
              <a:gd name="connsiteX1" fmla="*/ 0 w 2384784"/>
              <a:gd name="connsiteY1" fmla="*/ 381598 h 1172490"/>
              <a:gd name="connsiteX2" fmla="*/ 2384784 w 2384784"/>
              <a:gd name="connsiteY2" fmla="*/ 379414 h 1172490"/>
              <a:gd name="connsiteX3" fmla="*/ 1807502 w 2384784"/>
              <a:gd name="connsiteY3" fmla="*/ 1161265 h 1172490"/>
              <a:gd name="connsiteX4" fmla="*/ 1798759 w 2384784"/>
              <a:gd name="connsiteY4" fmla="*/ 1155218 h 1172490"/>
              <a:gd name="connsiteX5" fmla="*/ 1203979 w 2384784"/>
              <a:gd name="connsiteY5" fmla="*/ 987444 h 1172490"/>
              <a:gd name="connsiteX6" fmla="*/ 609506 w 2384784"/>
              <a:gd name="connsiteY6" fmla="*/ 1156308 h 1172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84784" h="1172490">
                <a:moveTo>
                  <a:pt x="586199" y="1172490"/>
                </a:moveTo>
                <a:lnTo>
                  <a:pt x="0" y="381598"/>
                </a:lnTo>
                <a:cubicBezTo>
                  <a:pt x="710541" y="-126393"/>
                  <a:pt x="1673315" y="-127274"/>
                  <a:pt x="2384784" y="379414"/>
                </a:cubicBezTo>
                <a:lnTo>
                  <a:pt x="1807502" y="1161265"/>
                </a:lnTo>
                <a:lnTo>
                  <a:pt x="1798759" y="1155218"/>
                </a:lnTo>
                <a:cubicBezTo>
                  <a:pt x="1628922" y="1049106"/>
                  <a:pt x="1424242" y="987242"/>
                  <a:pt x="1203979" y="987444"/>
                </a:cubicBezTo>
                <a:cubicBezTo>
                  <a:pt x="983716" y="987646"/>
                  <a:pt x="779148" y="1049884"/>
                  <a:pt x="609506" y="1156308"/>
                </a:cubicBezTo>
                <a:close/>
              </a:path>
            </a:pathLst>
          </a:custGeom>
          <a:ln>
            <a:solidFill>
              <a:srgbClr val="1A1A18"/>
            </a:solidFill>
          </a:ln>
        </p:spPr>
      </p:pic>
      <p:pic>
        <p:nvPicPr>
          <p:cNvPr id="98" name="Immagine 97">
            <a:extLst>
              <a:ext uri="{FF2B5EF4-FFF2-40B4-BE49-F238E27FC236}">
                <a16:creationId xmlns:a16="http://schemas.microsoft.com/office/drawing/2014/main" id="{43483D7C-2170-8B88-35A3-032B4B8D8AB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408" b="11408"/>
          <a:stretch/>
        </p:blipFill>
        <p:spPr>
          <a:xfrm rot="6583721">
            <a:off x="1116277" y="3323099"/>
            <a:ext cx="2503266" cy="1288091"/>
          </a:xfrm>
          <a:custGeom>
            <a:avLst/>
            <a:gdLst>
              <a:gd name="connsiteX0" fmla="*/ 2366977 w 2366977"/>
              <a:gd name="connsiteY0" fmla="*/ 431378 h 1209343"/>
              <a:gd name="connsiteX1" fmla="*/ 1763350 w 2366977"/>
              <a:gd name="connsiteY1" fmla="*/ 1209343 h 1209343"/>
              <a:gd name="connsiteX2" fmla="*/ 1724760 w 2366977"/>
              <a:gd name="connsiteY2" fmla="*/ 1174543 h 1209343"/>
              <a:gd name="connsiteX3" fmla="*/ 1464476 w 2366977"/>
              <a:gd name="connsiteY3" fmla="*/ 1026400 h 1209343"/>
              <a:gd name="connsiteX4" fmla="*/ 608514 w 2366977"/>
              <a:gd name="connsiteY4" fmla="*/ 1130480 h 1209343"/>
              <a:gd name="connsiteX5" fmla="*/ 534746 w 2366977"/>
              <a:gd name="connsiteY5" fmla="*/ 1182668 h 1209343"/>
              <a:gd name="connsiteX6" fmla="*/ 0 w 2366977"/>
              <a:gd name="connsiteY6" fmla="*/ 357120 h 1209343"/>
              <a:gd name="connsiteX7" fmla="*/ 2366977 w 2366977"/>
              <a:gd name="connsiteY7" fmla="*/ 431378 h 12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66977" h="1209343">
                <a:moveTo>
                  <a:pt x="2366977" y="431378"/>
                </a:moveTo>
                <a:lnTo>
                  <a:pt x="1763350" y="1209343"/>
                </a:lnTo>
                <a:lnTo>
                  <a:pt x="1724760" y="1174543"/>
                </a:lnTo>
                <a:cubicBezTo>
                  <a:pt x="1648178" y="1112481"/>
                  <a:pt x="1560997" y="1062074"/>
                  <a:pt x="1464476" y="1026400"/>
                </a:cubicBezTo>
                <a:cubicBezTo>
                  <a:pt x="1174914" y="919378"/>
                  <a:pt x="862969" y="967752"/>
                  <a:pt x="608514" y="1130480"/>
                </a:cubicBezTo>
                <a:lnTo>
                  <a:pt x="534746" y="1182668"/>
                </a:lnTo>
                <a:lnTo>
                  <a:pt x="0" y="357120"/>
                </a:lnTo>
                <a:cubicBezTo>
                  <a:pt x="730979" y="-145110"/>
                  <a:pt x="1686563" y="-115132"/>
                  <a:pt x="2366977" y="431378"/>
                </a:cubicBezTo>
                <a:close/>
              </a:path>
            </a:pathLst>
          </a:custGeom>
          <a:ln>
            <a:solidFill>
              <a:srgbClr val="1A1A18"/>
            </a:solidFill>
          </a:ln>
        </p:spPr>
      </p:pic>
      <p:pic>
        <p:nvPicPr>
          <p:cNvPr id="99" name="Immagine 98">
            <a:extLst>
              <a:ext uri="{FF2B5EF4-FFF2-40B4-BE49-F238E27FC236}">
                <a16:creationId xmlns:a16="http://schemas.microsoft.com/office/drawing/2014/main" id="{A1FF1A7B-1B11-DC7D-9FD3-F1F278D52E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58" b="7758"/>
          <a:stretch/>
        </p:blipFill>
        <p:spPr>
          <a:xfrm rot="19855173">
            <a:off x="-1156326" y="1419971"/>
            <a:ext cx="2478790" cy="1292408"/>
          </a:xfrm>
          <a:custGeom>
            <a:avLst/>
            <a:gdLst>
              <a:gd name="connsiteX0" fmla="*/ 0 w 2343834"/>
              <a:gd name="connsiteY0" fmla="*/ 441432 h 1213396"/>
              <a:gd name="connsiteX1" fmla="*/ 2343834 w 2343834"/>
              <a:gd name="connsiteY1" fmla="*/ 334972 h 1213396"/>
              <a:gd name="connsiteX2" fmla="*/ 1813435 w 2343834"/>
              <a:gd name="connsiteY2" fmla="*/ 1164320 h 1213396"/>
              <a:gd name="connsiteX3" fmla="*/ 1754638 w 2343834"/>
              <a:gd name="connsiteY3" fmla="*/ 1124102 h 1213396"/>
              <a:gd name="connsiteX4" fmla="*/ 906090 w 2343834"/>
              <a:gd name="connsiteY4" fmla="*/ 1033944 h 1213396"/>
              <a:gd name="connsiteX5" fmla="*/ 649372 w 2343834"/>
              <a:gd name="connsiteY5" fmla="*/ 1183193 h 1213396"/>
              <a:gd name="connsiteX6" fmla="*/ 616363 w 2343834"/>
              <a:gd name="connsiteY6" fmla="*/ 1213396 h 121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43834" h="1213396">
                <a:moveTo>
                  <a:pt x="0" y="441432"/>
                </a:moveTo>
                <a:cubicBezTo>
                  <a:pt x="669935" y="-105201"/>
                  <a:pt x="1616176" y="-148180"/>
                  <a:pt x="2343834" y="334972"/>
                </a:cubicBezTo>
                <a:lnTo>
                  <a:pt x="1813435" y="1164320"/>
                </a:lnTo>
                <a:lnTo>
                  <a:pt x="1754638" y="1124102"/>
                </a:lnTo>
                <a:cubicBezTo>
                  <a:pt x="1501427" y="967804"/>
                  <a:pt x="1192108" y="924686"/>
                  <a:pt x="906090" y="1033944"/>
                </a:cubicBezTo>
                <a:cubicBezTo>
                  <a:pt x="810752" y="1070363"/>
                  <a:pt x="724770" y="1121127"/>
                  <a:pt x="649372" y="1183193"/>
                </a:cubicBezTo>
                <a:lnTo>
                  <a:pt x="616363" y="1213396"/>
                </a:lnTo>
                <a:close/>
              </a:path>
            </a:pathLst>
          </a:custGeom>
          <a:ln>
            <a:solidFill>
              <a:srgbClr val="1A1A18"/>
            </a:solidFill>
          </a:ln>
        </p:spPr>
      </p:pic>
      <p:pic>
        <p:nvPicPr>
          <p:cNvPr id="100" name="Immagine 99">
            <a:extLst>
              <a:ext uri="{FF2B5EF4-FFF2-40B4-BE49-F238E27FC236}">
                <a16:creationId xmlns:a16="http://schemas.microsoft.com/office/drawing/2014/main" id="{C45B0014-5A7D-4351-73AD-8D3D667108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2" r="2662"/>
          <a:stretch/>
        </p:blipFill>
        <p:spPr>
          <a:xfrm rot="14803744">
            <a:off x="-1809631" y="3013840"/>
            <a:ext cx="2494801" cy="1332279"/>
          </a:xfrm>
          <a:custGeom>
            <a:avLst/>
            <a:gdLst>
              <a:gd name="connsiteX0" fmla="*/ 300947 w 2342280"/>
              <a:gd name="connsiteY0" fmla="*/ 97195 h 1259744"/>
              <a:gd name="connsiteX1" fmla="*/ 2342280 w 2342280"/>
              <a:gd name="connsiteY1" fmla="*/ 582472 h 1259744"/>
              <a:gd name="connsiteX2" fmla="*/ 1651027 w 2342280"/>
              <a:gd name="connsiteY2" fmla="*/ 1259744 h 1259744"/>
              <a:gd name="connsiteX3" fmla="*/ 1616664 w 2342280"/>
              <a:gd name="connsiteY3" fmla="*/ 1229094 h 1259744"/>
              <a:gd name="connsiteX4" fmla="*/ 470718 w 2342280"/>
              <a:gd name="connsiteY4" fmla="*/ 1131972 h 1259744"/>
              <a:gd name="connsiteX5" fmla="*/ 461534 w 2342280"/>
              <a:gd name="connsiteY5" fmla="*/ 1137146 h 1259744"/>
              <a:gd name="connsiteX6" fmla="*/ 0 w 2342280"/>
              <a:gd name="connsiteY6" fmla="*/ 220132 h 1259744"/>
              <a:gd name="connsiteX7" fmla="*/ 300947 w 2342280"/>
              <a:gd name="connsiteY7" fmla="*/ 97195 h 1259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42280" h="1259744">
                <a:moveTo>
                  <a:pt x="300947" y="97195"/>
                </a:moveTo>
                <a:cubicBezTo>
                  <a:pt x="1016214" y="-131140"/>
                  <a:pt x="1807098" y="47703"/>
                  <a:pt x="2342280" y="582472"/>
                </a:cubicBezTo>
                <a:lnTo>
                  <a:pt x="1651027" y="1259744"/>
                </a:lnTo>
                <a:lnTo>
                  <a:pt x="1616664" y="1229094"/>
                </a:lnTo>
                <a:cubicBezTo>
                  <a:pt x="1313420" y="985708"/>
                  <a:pt x="864215" y="933924"/>
                  <a:pt x="470718" y="1131972"/>
                </a:cubicBezTo>
                <a:lnTo>
                  <a:pt x="461534" y="1137146"/>
                </a:lnTo>
                <a:lnTo>
                  <a:pt x="0" y="220132"/>
                </a:lnTo>
                <a:cubicBezTo>
                  <a:pt x="98128" y="170744"/>
                  <a:pt x="198767" y="129815"/>
                  <a:pt x="300947" y="97195"/>
                </a:cubicBezTo>
                <a:close/>
              </a:path>
            </a:pathLst>
          </a:custGeom>
          <a:ln>
            <a:solidFill>
              <a:srgbClr val="1A1A18"/>
            </a:solidFill>
          </a:ln>
        </p:spPr>
      </p:pic>
      <p:sp>
        <p:nvSpPr>
          <p:cNvPr id="2" name="Figura a mano libera: forma 1">
            <a:extLst>
              <a:ext uri="{FF2B5EF4-FFF2-40B4-BE49-F238E27FC236}">
                <a16:creationId xmlns:a16="http://schemas.microsoft.com/office/drawing/2014/main" id="{9147E85E-3AE0-98C9-B8D7-520B39A74BE9}"/>
              </a:ext>
            </a:extLst>
          </p:cNvPr>
          <p:cNvSpPr/>
          <p:nvPr/>
        </p:nvSpPr>
        <p:spPr>
          <a:xfrm rot="18615892">
            <a:off x="-123736" y="2234986"/>
            <a:ext cx="2097301" cy="2257245"/>
          </a:xfrm>
          <a:custGeom>
            <a:avLst/>
            <a:gdLst>
              <a:gd name="connsiteX0" fmla="*/ 1112532 w 2215988"/>
              <a:gd name="connsiteY0" fmla="*/ 54878 h 2058934"/>
              <a:gd name="connsiteX1" fmla="*/ 71253 w 2215988"/>
              <a:gd name="connsiteY1" fmla="*/ 1020979 h 2058934"/>
              <a:gd name="connsiteX2" fmla="*/ 1112532 w 2215988"/>
              <a:gd name="connsiteY2" fmla="*/ 1987080 h 2058934"/>
              <a:gd name="connsiteX3" fmla="*/ 2153811 w 2215988"/>
              <a:gd name="connsiteY3" fmla="*/ 1020979 h 2058934"/>
              <a:gd name="connsiteX4" fmla="*/ 1112532 w 2215988"/>
              <a:gd name="connsiteY4" fmla="*/ 54878 h 2058934"/>
              <a:gd name="connsiteX5" fmla="*/ 1107994 w 2215988"/>
              <a:gd name="connsiteY5" fmla="*/ 0 h 2058934"/>
              <a:gd name="connsiteX6" fmla="*/ 2215988 w 2215988"/>
              <a:gd name="connsiteY6" fmla="*/ 1029467 h 2058934"/>
              <a:gd name="connsiteX7" fmla="*/ 1107994 w 2215988"/>
              <a:gd name="connsiteY7" fmla="*/ 2058934 h 2058934"/>
              <a:gd name="connsiteX8" fmla="*/ 0 w 2215988"/>
              <a:gd name="connsiteY8" fmla="*/ 1029467 h 2058934"/>
              <a:gd name="connsiteX9" fmla="*/ 1107994 w 2215988"/>
              <a:gd name="connsiteY9" fmla="*/ 0 h 2058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15988" h="2058934">
                <a:moveTo>
                  <a:pt x="1112532" y="54878"/>
                </a:moveTo>
                <a:cubicBezTo>
                  <a:pt x="537449" y="54878"/>
                  <a:pt x="71253" y="487416"/>
                  <a:pt x="71253" y="1020979"/>
                </a:cubicBezTo>
                <a:cubicBezTo>
                  <a:pt x="71253" y="1554542"/>
                  <a:pt x="537449" y="1987080"/>
                  <a:pt x="1112532" y="1987080"/>
                </a:cubicBezTo>
                <a:cubicBezTo>
                  <a:pt x="1687615" y="1987080"/>
                  <a:pt x="2153811" y="1554542"/>
                  <a:pt x="2153811" y="1020979"/>
                </a:cubicBezTo>
                <a:cubicBezTo>
                  <a:pt x="2153811" y="487416"/>
                  <a:pt x="1687615" y="54878"/>
                  <a:pt x="1112532" y="54878"/>
                </a:cubicBezTo>
                <a:close/>
                <a:moveTo>
                  <a:pt x="1107994" y="0"/>
                </a:moveTo>
                <a:cubicBezTo>
                  <a:pt x="1719922" y="0"/>
                  <a:pt x="2215988" y="460908"/>
                  <a:pt x="2215988" y="1029467"/>
                </a:cubicBezTo>
                <a:cubicBezTo>
                  <a:pt x="2215988" y="1598026"/>
                  <a:pt x="1719922" y="2058934"/>
                  <a:pt x="1107994" y="2058934"/>
                </a:cubicBezTo>
                <a:cubicBezTo>
                  <a:pt x="496066" y="2058934"/>
                  <a:pt x="0" y="1598026"/>
                  <a:pt x="0" y="1029467"/>
                </a:cubicBezTo>
                <a:cubicBezTo>
                  <a:pt x="0" y="460908"/>
                  <a:pt x="496066" y="0"/>
                  <a:pt x="1107994" y="0"/>
                </a:cubicBezTo>
                <a:close/>
              </a:path>
            </a:pathLst>
          </a:custGeom>
          <a:solidFill>
            <a:srgbClr val="CC190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F2465AEC-7C55-4878-8DD0-5BD01C0AA9BF}"/>
              </a:ext>
            </a:extLst>
          </p:cNvPr>
          <p:cNvSpPr/>
          <p:nvPr/>
        </p:nvSpPr>
        <p:spPr>
          <a:xfrm>
            <a:off x="10314105" y="171698"/>
            <a:ext cx="1651413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ln/>
                <a:solidFill>
                  <a:srgbClr val="C00000"/>
                </a:solidFill>
                <a:latin typeface="Book Antiqua" panose="02040602050305030304" pitchFamily="18" charset="0"/>
              </a:rPr>
              <a:t>Vision-Guided </a:t>
            </a:r>
          </a:p>
          <a:p>
            <a:pPr algn="ctr"/>
            <a:r>
              <a:rPr lang="en-US" sz="1400" b="1" dirty="0">
                <a:ln/>
                <a:solidFill>
                  <a:srgbClr val="C00000"/>
                </a:solidFill>
                <a:latin typeface="Book Antiqua" panose="02040602050305030304" pitchFamily="18" charset="0"/>
              </a:rPr>
              <a:t>Pick-and-Place</a:t>
            </a:r>
            <a:endParaRPr lang="it-IT" sz="1600" b="1" dirty="0">
              <a:ln/>
              <a:solidFill>
                <a:srgbClr val="C00000"/>
              </a:solidFill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A2905CBD-A658-C86D-CEFF-6D4A78EB96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3281" y="1862123"/>
            <a:ext cx="6377436" cy="4783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015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F9B04-E451-8BEE-B335-2792E0641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9392536A-B615-7C7F-9AD9-D9FCBB5B3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6" y="2358566"/>
            <a:ext cx="1891944" cy="1771748"/>
          </a:xfrm>
          <a:prstGeom prst="rect">
            <a:avLst/>
          </a:prstGeom>
        </p:spPr>
      </p:pic>
      <p:grpSp>
        <p:nvGrpSpPr>
          <p:cNvPr id="20" name="Gruppo 19">
            <a:extLst>
              <a:ext uri="{FF2B5EF4-FFF2-40B4-BE49-F238E27FC236}">
                <a16:creationId xmlns:a16="http://schemas.microsoft.com/office/drawing/2014/main" id="{8FBB3E49-0D41-2A2F-75CB-A14440B6CF13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</p:grpSpPr>
        <p:sp>
          <p:nvSpPr>
            <p:cNvPr id="21" name="Rettangolo 20">
              <a:extLst>
                <a:ext uri="{FF2B5EF4-FFF2-40B4-BE49-F238E27FC236}">
                  <a16:creationId xmlns:a16="http://schemas.microsoft.com/office/drawing/2014/main" id="{2EB2F684-BCB3-1379-2225-9CCAB5723D79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solidFill>
              <a:srgbClr val="CC1906"/>
            </a:solidFill>
            <a:ln>
              <a:solidFill>
                <a:srgbClr val="CC190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2" name="Rettangolo 21">
              <a:extLst>
                <a:ext uri="{FF2B5EF4-FFF2-40B4-BE49-F238E27FC236}">
                  <a16:creationId xmlns:a16="http://schemas.microsoft.com/office/drawing/2014/main" id="{EB4ACC62-48A1-1BCD-6A22-5389F88E3211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solidFill>
              <a:srgbClr val="CC1906"/>
            </a:solidFill>
            <a:ln>
              <a:solidFill>
                <a:srgbClr val="CC190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8D33F56-66CB-A336-B871-E5E26F9DD4C3}"/>
              </a:ext>
            </a:extLst>
          </p:cNvPr>
          <p:cNvSpPr txBox="1"/>
          <p:nvPr/>
        </p:nvSpPr>
        <p:spPr>
          <a:xfrm>
            <a:off x="3603296" y="904888"/>
            <a:ext cx="5980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rgbClr val="C00000"/>
                </a:solidFill>
                <a:latin typeface="Book Antiqua" panose="02040602050305030304" pitchFamily="18" charset="0"/>
              </a:rPr>
              <a:t>Vision Package</a:t>
            </a:r>
            <a:endParaRPr lang="en-US" sz="2400" b="1" u="sng" dirty="0">
              <a:latin typeface="Book Antiqua" panose="02040602050305030304" pitchFamily="18" charset="0"/>
            </a:endParaRP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BE0A4853-BC6C-91F6-01DB-636D875C573D}"/>
              </a:ext>
            </a:extLst>
          </p:cNvPr>
          <p:cNvSpPr txBox="1"/>
          <p:nvPr/>
        </p:nvSpPr>
        <p:spPr>
          <a:xfrm>
            <a:off x="4151994" y="1329147"/>
            <a:ext cx="6927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Book Antiqua" panose="02040602050305030304" pitchFamily="18" charset="0"/>
              </a:rPr>
              <a:t>FSM picks tactic, sends start/goal poses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Book Antiqua" panose="02040602050305030304" pitchFamily="18" charset="0"/>
              </a:rPr>
              <a:t>detection.cpp</a:t>
            </a:r>
            <a:r>
              <a:rPr lang="en-US" sz="1600" dirty="0">
                <a:latin typeface="Book Antiqua" panose="02040602050305030304" pitchFamily="18" charset="0"/>
              </a:rPr>
              <a:t>: resize + normalize RGB, run CNN, keep boxes &gt; 70 % confidence (class + 2-D center).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FB4ED65D-73E7-5DBD-3020-F06C8989F7EE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</a:t>
            </a:r>
            <a:r>
              <a:rPr lang="it-IT" sz="1200" dirty="0" err="1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Nivriti</a:t>
            </a:r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it-IT" sz="1200" dirty="0" err="1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Raisingh</a:t>
            </a:r>
            <a:endParaRPr lang="it-IT" sz="1200" dirty="0">
              <a:solidFill>
                <a:schemeClr val="bg1">
                  <a:lumMod val="65000"/>
                </a:schemeClr>
              </a:solidFill>
              <a:latin typeface="Book Antiqua" panose="02040602050305030304" pitchFamily="18" charset="0"/>
            </a:endParaRPr>
          </a:p>
        </p:txBody>
      </p:sp>
      <p:cxnSp>
        <p:nvCxnSpPr>
          <p:cNvPr id="36" name="Connettore diritto 35">
            <a:extLst>
              <a:ext uri="{FF2B5EF4-FFF2-40B4-BE49-F238E27FC236}">
                <a16:creationId xmlns:a16="http://schemas.microsoft.com/office/drawing/2014/main" id="{671C62D6-494F-7F12-F494-429BADC0AB84}"/>
              </a:ext>
            </a:extLst>
          </p:cNvPr>
          <p:cNvCxnSpPr>
            <a:cxnSpLocks/>
          </p:cNvCxnSpPr>
          <p:nvPr/>
        </p:nvCxnSpPr>
        <p:spPr>
          <a:xfrm flipV="1">
            <a:off x="2268042" y="1277977"/>
            <a:ext cx="1435857" cy="31441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Immagine 94">
            <a:extLst>
              <a:ext uri="{FF2B5EF4-FFF2-40B4-BE49-F238E27FC236}">
                <a16:creationId xmlns:a16="http://schemas.microsoft.com/office/drawing/2014/main" id="{7949A550-E78D-F885-3F22-3A0DCF9F4F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463" b="12463"/>
          <a:stretch/>
        </p:blipFill>
        <p:spPr>
          <a:xfrm rot="11218916">
            <a:off x="-403832" y="4278601"/>
            <a:ext cx="2522113" cy="1262291"/>
          </a:xfrm>
          <a:custGeom>
            <a:avLst/>
            <a:gdLst>
              <a:gd name="connsiteX0" fmla="*/ 2367923 w 2367923"/>
              <a:gd name="connsiteY0" fmla="*/ 332861 h 1193566"/>
              <a:gd name="connsiteX1" fmla="*/ 1808313 w 2367923"/>
              <a:gd name="connsiteY1" fmla="*/ 1193566 h 1193566"/>
              <a:gd name="connsiteX2" fmla="*/ 1799347 w 2367923"/>
              <a:gd name="connsiteY2" fmla="*/ 1187120 h 1193566"/>
              <a:gd name="connsiteX3" fmla="*/ 649671 w 2367923"/>
              <a:gd name="connsiteY3" fmla="*/ 1157610 h 1193566"/>
              <a:gd name="connsiteX4" fmla="*/ 612271 w 2367923"/>
              <a:gd name="connsiteY4" fmla="*/ 1184206 h 1193566"/>
              <a:gd name="connsiteX5" fmla="*/ 0 w 2367923"/>
              <a:gd name="connsiteY5" fmla="*/ 435374 h 1193566"/>
              <a:gd name="connsiteX6" fmla="*/ 2367923 w 2367923"/>
              <a:gd name="connsiteY6" fmla="*/ 332861 h 1193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67923" h="1193566">
                <a:moveTo>
                  <a:pt x="2367923" y="332861"/>
                </a:moveTo>
                <a:lnTo>
                  <a:pt x="1808313" y="1193566"/>
                </a:lnTo>
                <a:lnTo>
                  <a:pt x="1799347" y="1187120"/>
                </a:lnTo>
                <a:cubicBezTo>
                  <a:pt x="1430021" y="946993"/>
                  <a:pt x="977846" y="949055"/>
                  <a:pt x="649671" y="1157610"/>
                </a:cubicBezTo>
                <a:lnTo>
                  <a:pt x="612271" y="1184206"/>
                </a:lnTo>
                <a:lnTo>
                  <a:pt x="0" y="435374"/>
                </a:lnTo>
                <a:cubicBezTo>
                  <a:pt x="675149" y="-104807"/>
                  <a:pt x="1631115" y="-146193"/>
                  <a:pt x="2367923" y="332861"/>
                </a:cubicBezTo>
                <a:close/>
              </a:path>
            </a:pathLst>
          </a:custGeom>
          <a:ln>
            <a:solidFill>
              <a:srgbClr val="1A1A18"/>
            </a:solidFill>
          </a:ln>
        </p:spPr>
      </p:pic>
      <p:pic>
        <p:nvPicPr>
          <p:cNvPr id="97" name="Immagine 96">
            <a:extLst>
              <a:ext uri="{FF2B5EF4-FFF2-40B4-BE49-F238E27FC236}">
                <a16:creationId xmlns:a16="http://schemas.microsoft.com/office/drawing/2014/main" id="{05EDC93B-E9AD-790E-286B-4C193913A1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67" b="13567"/>
          <a:stretch/>
        </p:blipFill>
        <p:spPr>
          <a:xfrm rot="2403921">
            <a:off x="632930" y="1577287"/>
            <a:ext cx="2540073" cy="1240001"/>
          </a:xfrm>
          <a:custGeom>
            <a:avLst/>
            <a:gdLst>
              <a:gd name="connsiteX0" fmla="*/ 586199 w 2384784"/>
              <a:gd name="connsiteY0" fmla="*/ 1172490 h 1172490"/>
              <a:gd name="connsiteX1" fmla="*/ 0 w 2384784"/>
              <a:gd name="connsiteY1" fmla="*/ 381598 h 1172490"/>
              <a:gd name="connsiteX2" fmla="*/ 2384784 w 2384784"/>
              <a:gd name="connsiteY2" fmla="*/ 379414 h 1172490"/>
              <a:gd name="connsiteX3" fmla="*/ 1807502 w 2384784"/>
              <a:gd name="connsiteY3" fmla="*/ 1161265 h 1172490"/>
              <a:gd name="connsiteX4" fmla="*/ 1798759 w 2384784"/>
              <a:gd name="connsiteY4" fmla="*/ 1155218 h 1172490"/>
              <a:gd name="connsiteX5" fmla="*/ 1203979 w 2384784"/>
              <a:gd name="connsiteY5" fmla="*/ 987444 h 1172490"/>
              <a:gd name="connsiteX6" fmla="*/ 609506 w 2384784"/>
              <a:gd name="connsiteY6" fmla="*/ 1156308 h 1172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84784" h="1172490">
                <a:moveTo>
                  <a:pt x="586199" y="1172490"/>
                </a:moveTo>
                <a:lnTo>
                  <a:pt x="0" y="381598"/>
                </a:lnTo>
                <a:cubicBezTo>
                  <a:pt x="710541" y="-126393"/>
                  <a:pt x="1673315" y="-127274"/>
                  <a:pt x="2384784" y="379414"/>
                </a:cubicBezTo>
                <a:lnTo>
                  <a:pt x="1807502" y="1161265"/>
                </a:lnTo>
                <a:lnTo>
                  <a:pt x="1798759" y="1155218"/>
                </a:lnTo>
                <a:cubicBezTo>
                  <a:pt x="1628922" y="1049106"/>
                  <a:pt x="1424242" y="987242"/>
                  <a:pt x="1203979" y="987444"/>
                </a:cubicBezTo>
                <a:cubicBezTo>
                  <a:pt x="983716" y="987646"/>
                  <a:pt x="779148" y="1049884"/>
                  <a:pt x="609506" y="1156308"/>
                </a:cubicBezTo>
                <a:close/>
              </a:path>
            </a:pathLst>
          </a:custGeom>
          <a:ln>
            <a:solidFill>
              <a:srgbClr val="1A1A18"/>
            </a:solidFill>
          </a:ln>
        </p:spPr>
      </p:pic>
      <p:pic>
        <p:nvPicPr>
          <p:cNvPr id="98" name="Immagine 97">
            <a:extLst>
              <a:ext uri="{FF2B5EF4-FFF2-40B4-BE49-F238E27FC236}">
                <a16:creationId xmlns:a16="http://schemas.microsoft.com/office/drawing/2014/main" id="{879B6756-28A7-949C-DAC8-03E16796490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408" b="11408"/>
          <a:stretch/>
        </p:blipFill>
        <p:spPr>
          <a:xfrm rot="6583721">
            <a:off x="1116277" y="3323099"/>
            <a:ext cx="2503266" cy="1288091"/>
          </a:xfrm>
          <a:custGeom>
            <a:avLst/>
            <a:gdLst>
              <a:gd name="connsiteX0" fmla="*/ 2366977 w 2366977"/>
              <a:gd name="connsiteY0" fmla="*/ 431378 h 1209343"/>
              <a:gd name="connsiteX1" fmla="*/ 1763350 w 2366977"/>
              <a:gd name="connsiteY1" fmla="*/ 1209343 h 1209343"/>
              <a:gd name="connsiteX2" fmla="*/ 1724760 w 2366977"/>
              <a:gd name="connsiteY2" fmla="*/ 1174543 h 1209343"/>
              <a:gd name="connsiteX3" fmla="*/ 1464476 w 2366977"/>
              <a:gd name="connsiteY3" fmla="*/ 1026400 h 1209343"/>
              <a:gd name="connsiteX4" fmla="*/ 608514 w 2366977"/>
              <a:gd name="connsiteY4" fmla="*/ 1130480 h 1209343"/>
              <a:gd name="connsiteX5" fmla="*/ 534746 w 2366977"/>
              <a:gd name="connsiteY5" fmla="*/ 1182668 h 1209343"/>
              <a:gd name="connsiteX6" fmla="*/ 0 w 2366977"/>
              <a:gd name="connsiteY6" fmla="*/ 357120 h 1209343"/>
              <a:gd name="connsiteX7" fmla="*/ 2366977 w 2366977"/>
              <a:gd name="connsiteY7" fmla="*/ 431378 h 12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66977" h="1209343">
                <a:moveTo>
                  <a:pt x="2366977" y="431378"/>
                </a:moveTo>
                <a:lnTo>
                  <a:pt x="1763350" y="1209343"/>
                </a:lnTo>
                <a:lnTo>
                  <a:pt x="1724760" y="1174543"/>
                </a:lnTo>
                <a:cubicBezTo>
                  <a:pt x="1648178" y="1112481"/>
                  <a:pt x="1560997" y="1062074"/>
                  <a:pt x="1464476" y="1026400"/>
                </a:cubicBezTo>
                <a:cubicBezTo>
                  <a:pt x="1174914" y="919378"/>
                  <a:pt x="862969" y="967752"/>
                  <a:pt x="608514" y="1130480"/>
                </a:cubicBezTo>
                <a:lnTo>
                  <a:pt x="534746" y="1182668"/>
                </a:lnTo>
                <a:lnTo>
                  <a:pt x="0" y="357120"/>
                </a:lnTo>
                <a:cubicBezTo>
                  <a:pt x="730979" y="-145110"/>
                  <a:pt x="1686563" y="-115132"/>
                  <a:pt x="2366977" y="431378"/>
                </a:cubicBezTo>
                <a:close/>
              </a:path>
            </a:pathLst>
          </a:custGeom>
          <a:ln>
            <a:solidFill>
              <a:srgbClr val="1A1A18"/>
            </a:solidFill>
          </a:ln>
        </p:spPr>
      </p:pic>
      <p:pic>
        <p:nvPicPr>
          <p:cNvPr id="99" name="Immagine 98">
            <a:extLst>
              <a:ext uri="{FF2B5EF4-FFF2-40B4-BE49-F238E27FC236}">
                <a16:creationId xmlns:a16="http://schemas.microsoft.com/office/drawing/2014/main" id="{D1A28363-6AB2-7094-1223-F40D86E8EC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58" b="7758"/>
          <a:stretch/>
        </p:blipFill>
        <p:spPr>
          <a:xfrm rot="19855173">
            <a:off x="-1156326" y="1419971"/>
            <a:ext cx="2478790" cy="1292408"/>
          </a:xfrm>
          <a:custGeom>
            <a:avLst/>
            <a:gdLst>
              <a:gd name="connsiteX0" fmla="*/ 0 w 2343834"/>
              <a:gd name="connsiteY0" fmla="*/ 441432 h 1213396"/>
              <a:gd name="connsiteX1" fmla="*/ 2343834 w 2343834"/>
              <a:gd name="connsiteY1" fmla="*/ 334972 h 1213396"/>
              <a:gd name="connsiteX2" fmla="*/ 1813435 w 2343834"/>
              <a:gd name="connsiteY2" fmla="*/ 1164320 h 1213396"/>
              <a:gd name="connsiteX3" fmla="*/ 1754638 w 2343834"/>
              <a:gd name="connsiteY3" fmla="*/ 1124102 h 1213396"/>
              <a:gd name="connsiteX4" fmla="*/ 906090 w 2343834"/>
              <a:gd name="connsiteY4" fmla="*/ 1033944 h 1213396"/>
              <a:gd name="connsiteX5" fmla="*/ 649372 w 2343834"/>
              <a:gd name="connsiteY5" fmla="*/ 1183193 h 1213396"/>
              <a:gd name="connsiteX6" fmla="*/ 616363 w 2343834"/>
              <a:gd name="connsiteY6" fmla="*/ 1213396 h 121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43834" h="1213396">
                <a:moveTo>
                  <a:pt x="0" y="441432"/>
                </a:moveTo>
                <a:cubicBezTo>
                  <a:pt x="669935" y="-105201"/>
                  <a:pt x="1616176" y="-148180"/>
                  <a:pt x="2343834" y="334972"/>
                </a:cubicBezTo>
                <a:lnTo>
                  <a:pt x="1813435" y="1164320"/>
                </a:lnTo>
                <a:lnTo>
                  <a:pt x="1754638" y="1124102"/>
                </a:lnTo>
                <a:cubicBezTo>
                  <a:pt x="1501427" y="967804"/>
                  <a:pt x="1192108" y="924686"/>
                  <a:pt x="906090" y="1033944"/>
                </a:cubicBezTo>
                <a:cubicBezTo>
                  <a:pt x="810752" y="1070363"/>
                  <a:pt x="724770" y="1121127"/>
                  <a:pt x="649372" y="1183193"/>
                </a:cubicBezTo>
                <a:lnTo>
                  <a:pt x="616363" y="1213396"/>
                </a:lnTo>
                <a:close/>
              </a:path>
            </a:pathLst>
          </a:custGeom>
          <a:ln>
            <a:solidFill>
              <a:srgbClr val="1A1A18"/>
            </a:solidFill>
          </a:ln>
        </p:spPr>
      </p:pic>
      <p:pic>
        <p:nvPicPr>
          <p:cNvPr id="100" name="Immagine 99">
            <a:extLst>
              <a:ext uri="{FF2B5EF4-FFF2-40B4-BE49-F238E27FC236}">
                <a16:creationId xmlns:a16="http://schemas.microsoft.com/office/drawing/2014/main" id="{C918E170-7058-C576-64BE-DD7109CA23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2" r="2662"/>
          <a:stretch/>
        </p:blipFill>
        <p:spPr>
          <a:xfrm rot="14803744">
            <a:off x="-1809631" y="3013840"/>
            <a:ext cx="2494801" cy="1332279"/>
          </a:xfrm>
          <a:custGeom>
            <a:avLst/>
            <a:gdLst>
              <a:gd name="connsiteX0" fmla="*/ 300947 w 2342280"/>
              <a:gd name="connsiteY0" fmla="*/ 97195 h 1259744"/>
              <a:gd name="connsiteX1" fmla="*/ 2342280 w 2342280"/>
              <a:gd name="connsiteY1" fmla="*/ 582472 h 1259744"/>
              <a:gd name="connsiteX2" fmla="*/ 1651027 w 2342280"/>
              <a:gd name="connsiteY2" fmla="*/ 1259744 h 1259744"/>
              <a:gd name="connsiteX3" fmla="*/ 1616664 w 2342280"/>
              <a:gd name="connsiteY3" fmla="*/ 1229094 h 1259744"/>
              <a:gd name="connsiteX4" fmla="*/ 470718 w 2342280"/>
              <a:gd name="connsiteY4" fmla="*/ 1131972 h 1259744"/>
              <a:gd name="connsiteX5" fmla="*/ 461534 w 2342280"/>
              <a:gd name="connsiteY5" fmla="*/ 1137146 h 1259744"/>
              <a:gd name="connsiteX6" fmla="*/ 0 w 2342280"/>
              <a:gd name="connsiteY6" fmla="*/ 220132 h 1259744"/>
              <a:gd name="connsiteX7" fmla="*/ 300947 w 2342280"/>
              <a:gd name="connsiteY7" fmla="*/ 97195 h 1259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42280" h="1259744">
                <a:moveTo>
                  <a:pt x="300947" y="97195"/>
                </a:moveTo>
                <a:cubicBezTo>
                  <a:pt x="1016214" y="-131140"/>
                  <a:pt x="1807098" y="47703"/>
                  <a:pt x="2342280" y="582472"/>
                </a:cubicBezTo>
                <a:lnTo>
                  <a:pt x="1651027" y="1259744"/>
                </a:lnTo>
                <a:lnTo>
                  <a:pt x="1616664" y="1229094"/>
                </a:lnTo>
                <a:cubicBezTo>
                  <a:pt x="1313420" y="985708"/>
                  <a:pt x="864215" y="933924"/>
                  <a:pt x="470718" y="1131972"/>
                </a:cubicBezTo>
                <a:lnTo>
                  <a:pt x="461534" y="1137146"/>
                </a:lnTo>
                <a:lnTo>
                  <a:pt x="0" y="220132"/>
                </a:lnTo>
                <a:cubicBezTo>
                  <a:pt x="98128" y="170744"/>
                  <a:pt x="198767" y="129815"/>
                  <a:pt x="300947" y="97195"/>
                </a:cubicBezTo>
                <a:close/>
              </a:path>
            </a:pathLst>
          </a:custGeom>
          <a:ln>
            <a:solidFill>
              <a:srgbClr val="1A1A18"/>
            </a:solidFill>
          </a:ln>
        </p:spPr>
      </p:pic>
      <p:sp>
        <p:nvSpPr>
          <p:cNvPr id="2" name="Figura a mano libera: forma 1">
            <a:extLst>
              <a:ext uri="{FF2B5EF4-FFF2-40B4-BE49-F238E27FC236}">
                <a16:creationId xmlns:a16="http://schemas.microsoft.com/office/drawing/2014/main" id="{82BA608E-CD99-FEE7-22AA-0BDBA7273A42}"/>
              </a:ext>
            </a:extLst>
          </p:cNvPr>
          <p:cNvSpPr/>
          <p:nvPr/>
        </p:nvSpPr>
        <p:spPr>
          <a:xfrm rot="18615892">
            <a:off x="-123736" y="2234986"/>
            <a:ext cx="2097301" cy="2257245"/>
          </a:xfrm>
          <a:custGeom>
            <a:avLst/>
            <a:gdLst>
              <a:gd name="connsiteX0" fmla="*/ 1112532 w 2215988"/>
              <a:gd name="connsiteY0" fmla="*/ 54878 h 2058934"/>
              <a:gd name="connsiteX1" fmla="*/ 71253 w 2215988"/>
              <a:gd name="connsiteY1" fmla="*/ 1020979 h 2058934"/>
              <a:gd name="connsiteX2" fmla="*/ 1112532 w 2215988"/>
              <a:gd name="connsiteY2" fmla="*/ 1987080 h 2058934"/>
              <a:gd name="connsiteX3" fmla="*/ 2153811 w 2215988"/>
              <a:gd name="connsiteY3" fmla="*/ 1020979 h 2058934"/>
              <a:gd name="connsiteX4" fmla="*/ 1112532 w 2215988"/>
              <a:gd name="connsiteY4" fmla="*/ 54878 h 2058934"/>
              <a:gd name="connsiteX5" fmla="*/ 1107994 w 2215988"/>
              <a:gd name="connsiteY5" fmla="*/ 0 h 2058934"/>
              <a:gd name="connsiteX6" fmla="*/ 2215988 w 2215988"/>
              <a:gd name="connsiteY6" fmla="*/ 1029467 h 2058934"/>
              <a:gd name="connsiteX7" fmla="*/ 1107994 w 2215988"/>
              <a:gd name="connsiteY7" fmla="*/ 2058934 h 2058934"/>
              <a:gd name="connsiteX8" fmla="*/ 0 w 2215988"/>
              <a:gd name="connsiteY8" fmla="*/ 1029467 h 2058934"/>
              <a:gd name="connsiteX9" fmla="*/ 1107994 w 2215988"/>
              <a:gd name="connsiteY9" fmla="*/ 0 h 2058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15988" h="2058934">
                <a:moveTo>
                  <a:pt x="1112532" y="54878"/>
                </a:moveTo>
                <a:cubicBezTo>
                  <a:pt x="537449" y="54878"/>
                  <a:pt x="71253" y="487416"/>
                  <a:pt x="71253" y="1020979"/>
                </a:cubicBezTo>
                <a:cubicBezTo>
                  <a:pt x="71253" y="1554542"/>
                  <a:pt x="537449" y="1987080"/>
                  <a:pt x="1112532" y="1987080"/>
                </a:cubicBezTo>
                <a:cubicBezTo>
                  <a:pt x="1687615" y="1987080"/>
                  <a:pt x="2153811" y="1554542"/>
                  <a:pt x="2153811" y="1020979"/>
                </a:cubicBezTo>
                <a:cubicBezTo>
                  <a:pt x="2153811" y="487416"/>
                  <a:pt x="1687615" y="54878"/>
                  <a:pt x="1112532" y="54878"/>
                </a:cubicBezTo>
                <a:close/>
                <a:moveTo>
                  <a:pt x="1107994" y="0"/>
                </a:moveTo>
                <a:cubicBezTo>
                  <a:pt x="1719922" y="0"/>
                  <a:pt x="2215988" y="460908"/>
                  <a:pt x="2215988" y="1029467"/>
                </a:cubicBezTo>
                <a:cubicBezTo>
                  <a:pt x="2215988" y="1598026"/>
                  <a:pt x="1719922" y="2058934"/>
                  <a:pt x="1107994" y="2058934"/>
                </a:cubicBezTo>
                <a:cubicBezTo>
                  <a:pt x="496066" y="2058934"/>
                  <a:pt x="0" y="1598026"/>
                  <a:pt x="0" y="1029467"/>
                </a:cubicBezTo>
                <a:cubicBezTo>
                  <a:pt x="0" y="460908"/>
                  <a:pt x="496066" y="0"/>
                  <a:pt x="1107994" y="0"/>
                </a:cubicBezTo>
                <a:close/>
              </a:path>
            </a:pathLst>
          </a:custGeom>
          <a:solidFill>
            <a:srgbClr val="CC190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3603FC97-72EB-2824-63BB-F69BF5B9F0D8}"/>
              </a:ext>
            </a:extLst>
          </p:cNvPr>
          <p:cNvSpPr/>
          <p:nvPr/>
        </p:nvSpPr>
        <p:spPr>
          <a:xfrm>
            <a:off x="10314105" y="171698"/>
            <a:ext cx="1651413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ln/>
                <a:solidFill>
                  <a:srgbClr val="C00000"/>
                </a:solidFill>
                <a:latin typeface="Book Antiqua" panose="02040602050305030304" pitchFamily="18" charset="0"/>
              </a:rPr>
              <a:t>Vision-Guided </a:t>
            </a:r>
          </a:p>
          <a:p>
            <a:pPr algn="ctr"/>
            <a:r>
              <a:rPr lang="en-US" sz="1400" b="1" dirty="0">
                <a:ln/>
                <a:solidFill>
                  <a:srgbClr val="C00000"/>
                </a:solidFill>
                <a:latin typeface="Book Antiqua" panose="02040602050305030304" pitchFamily="18" charset="0"/>
              </a:rPr>
              <a:t>Pick-and-Place</a:t>
            </a:r>
            <a:endParaRPr lang="it-IT" sz="1600" b="1" dirty="0">
              <a:ln/>
              <a:solidFill>
                <a:srgbClr val="C00000"/>
              </a:solidFill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FE4421F7-68B6-A725-8B7C-5D9DA3F2A8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33"/>
          <a:stretch>
            <a:fillRect/>
          </a:stretch>
        </p:blipFill>
        <p:spPr>
          <a:xfrm>
            <a:off x="5121236" y="2157829"/>
            <a:ext cx="4793603" cy="458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95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63774-3598-0CD7-CD5A-B08FA11F3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66060B84-D08E-5F23-6133-EDB21ADAE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6" y="2358566"/>
            <a:ext cx="1891944" cy="1771748"/>
          </a:xfrm>
          <a:prstGeom prst="rect">
            <a:avLst/>
          </a:prstGeom>
        </p:spPr>
      </p:pic>
      <p:grpSp>
        <p:nvGrpSpPr>
          <p:cNvPr id="20" name="Gruppo 19">
            <a:extLst>
              <a:ext uri="{FF2B5EF4-FFF2-40B4-BE49-F238E27FC236}">
                <a16:creationId xmlns:a16="http://schemas.microsoft.com/office/drawing/2014/main" id="{C53A8D77-404D-C665-8C4E-328F9075F05E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</p:grpSpPr>
        <p:sp>
          <p:nvSpPr>
            <p:cNvPr id="21" name="Rettangolo 20">
              <a:extLst>
                <a:ext uri="{FF2B5EF4-FFF2-40B4-BE49-F238E27FC236}">
                  <a16:creationId xmlns:a16="http://schemas.microsoft.com/office/drawing/2014/main" id="{20D98F67-E92E-FA7D-82CE-6D411E6D717C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solidFill>
              <a:srgbClr val="CC1906"/>
            </a:solidFill>
            <a:ln>
              <a:solidFill>
                <a:srgbClr val="CC190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2" name="Rettangolo 21">
              <a:extLst>
                <a:ext uri="{FF2B5EF4-FFF2-40B4-BE49-F238E27FC236}">
                  <a16:creationId xmlns:a16="http://schemas.microsoft.com/office/drawing/2014/main" id="{9B4BD373-4E0D-7B81-92CF-7A972BA602CC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solidFill>
              <a:srgbClr val="CC1906"/>
            </a:solidFill>
            <a:ln>
              <a:solidFill>
                <a:srgbClr val="CC190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38331FCC-DB45-2920-D85E-95799FE703D3}"/>
              </a:ext>
            </a:extLst>
          </p:cNvPr>
          <p:cNvSpPr txBox="1"/>
          <p:nvPr/>
        </p:nvSpPr>
        <p:spPr>
          <a:xfrm>
            <a:off x="3603296" y="904888"/>
            <a:ext cx="5980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rgbClr val="C00000"/>
                </a:solidFill>
                <a:latin typeface="Book Antiqua" panose="02040602050305030304" pitchFamily="18" charset="0"/>
              </a:rPr>
              <a:t>Vision Package</a:t>
            </a:r>
            <a:endParaRPr lang="en-US" sz="2400" b="1" u="sng" dirty="0">
              <a:latin typeface="Book Antiqua" panose="02040602050305030304" pitchFamily="18" charset="0"/>
            </a:endParaRP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F25AE060-D694-E0E7-6EBB-BA1F77C6F640}"/>
              </a:ext>
            </a:extLst>
          </p:cNvPr>
          <p:cNvSpPr txBox="1"/>
          <p:nvPr/>
        </p:nvSpPr>
        <p:spPr>
          <a:xfrm>
            <a:off x="4151994" y="1329147"/>
            <a:ext cx="6927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it-IT" sz="1600" b="1" dirty="0">
                <a:latin typeface="Book Antiqua" panose="02040602050305030304" pitchFamily="18" charset="0"/>
              </a:rPr>
              <a:t>position.cpp</a:t>
            </a:r>
            <a:r>
              <a:rPr lang="it-IT" sz="1600" dirty="0">
                <a:latin typeface="Book Antiqua" panose="02040602050305030304" pitchFamily="18" charset="0"/>
              </a:rPr>
              <a:t>: project box </a:t>
            </a:r>
            <a:r>
              <a:rPr lang="it-IT" sz="1600" dirty="0" err="1">
                <a:latin typeface="Book Antiqua" panose="02040602050305030304" pitchFamily="18" charset="0"/>
              </a:rPr>
              <a:t>into</a:t>
            </a:r>
            <a:r>
              <a:rPr lang="it-IT" sz="1600" dirty="0">
                <a:latin typeface="Book Antiqua" panose="02040602050305030304" pitchFamily="18" charset="0"/>
              </a:rPr>
              <a:t> </a:t>
            </a:r>
            <a:r>
              <a:rPr lang="it-IT" sz="1600" dirty="0" err="1">
                <a:latin typeface="Book Antiqua" panose="02040602050305030304" pitchFamily="18" charset="0"/>
              </a:rPr>
              <a:t>depth</a:t>
            </a:r>
            <a:r>
              <a:rPr lang="it-IT" sz="1600" dirty="0">
                <a:latin typeface="Book Antiqua" panose="02040602050305030304" pitchFamily="18" charset="0"/>
              </a:rPr>
              <a:t> cloud, compute 3-D </a:t>
            </a:r>
            <a:r>
              <a:rPr lang="it-IT" sz="1600" dirty="0" err="1">
                <a:latin typeface="Book Antiqua" panose="02040602050305030304" pitchFamily="18" charset="0"/>
              </a:rPr>
              <a:t>centroid</a:t>
            </a:r>
            <a:r>
              <a:rPr lang="it-IT" sz="1600" dirty="0">
                <a:latin typeface="Book Antiqua" panose="02040602050305030304" pitchFamily="18" charset="0"/>
              </a:rPr>
              <a:t>, </a:t>
            </a:r>
            <a:r>
              <a:rPr lang="it-IT" sz="1600" dirty="0" err="1">
                <a:latin typeface="Book Antiqua" panose="02040602050305030304" pitchFamily="18" charset="0"/>
              </a:rPr>
              <a:t>transform</a:t>
            </a:r>
            <a:r>
              <a:rPr lang="it-IT" sz="1600" dirty="0">
                <a:latin typeface="Book Antiqua" panose="02040602050305030304" pitchFamily="18" charset="0"/>
              </a:rPr>
              <a:t> to robot base frame.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Book Antiqua" panose="02040602050305030304" pitchFamily="18" charset="0"/>
              </a:rPr>
              <a:t>Outputs a </a:t>
            </a:r>
            <a:r>
              <a:rPr lang="en-US" sz="1600" b="1" dirty="0" err="1">
                <a:latin typeface="Book Antiqua" panose="02040602050305030304" pitchFamily="18" charset="0"/>
              </a:rPr>
              <a:t>ClassPose</a:t>
            </a:r>
            <a:r>
              <a:rPr lang="en-US" sz="1600" dirty="0">
                <a:latin typeface="Book Antiqua" panose="02040602050305030304" pitchFamily="18" charset="0"/>
              </a:rPr>
              <a:t> (centroid + class) → vision stage complete.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B19BB7C8-1EC1-DCC1-4A03-BD2D5523843F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</a:t>
            </a:r>
            <a:r>
              <a:rPr lang="it-IT" sz="1200" dirty="0" err="1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Nivriti</a:t>
            </a:r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it-IT" sz="1200" dirty="0" err="1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Raisingh</a:t>
            </a:r>
            <a:endParaRPr lang="it-IT" sz="1200" dirty="0">
              <a:solidFill>
                <a:schemeClr val="bg1">
                  <a:lumMod val="65000"/>
                </a:schemeClr>
              </a:solidFill>
              <a:latin typeface="Book Antiqua" panose="02040602050305030304" pitchFamily="18" charset="0"/>
            </a:endParaRPr>
          </a:p>
        </p:txBody>
      </p:sp>
      <p:cxnSp>
        <p:nvCxnSpPr>
          <p:cNvPr id="36" name="Connettore diritto 35">
            <a:extLst>
              <a:ext uri="{FF2B5EF4-FFF2-40B4-BE49-F238E27FC236}">
                <a16:creationId xmlns:a16="http://schemas.microsoft.com/office/drawing/2014/main" id="{781A91EF-0C19-6B4B-868D-2121B939D0BB}"/>
              </a:ext>
            </a:extLst>
          </p:cNvPr>
          <p:cNvCxnSpPr>
            <a:cxnSpLocks/>
          </p:cNvCxnSpPr>
          <p:nvPr/>
        </p:nvCxnSpPr>
        <p:spPr>
          <a:xfrm flipV="1">
            <a:off x="2268042" y="1277977"/>
            <a:ext cx="1435857" cy="31441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Immagine 94">
            <a:extLst>
              <a:ext uri="{FF2B5EF4-FFF2-40B4-BE49-F238E27FC236}">
                <a16:creationId xmlns:a16="http://schemas.microsoft.com/office/drawing/2014/main" id="{85C5852A-8EE4-FDB0-578E-CE6B46A739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463" b="12463"/>
          <a:stretch/>
        </p:blipFill>
        <p:spPr>
          <a:xfrm rot="11218916">
            <a:off x="-403832" y="4278601"/>
            <a:ext cx="2522113" cy="1262291"/>
          </a:xfrm>
          <a:custGeom>
            <a:avLst/>
            <a:gdLst>
              <a:gd name="connsiteX0" fmla="*/ 2367923 w 2367923"/>
              <a:gd name="connsiteY0" fmla="*/ 332861 h 1193566"/>
              <a:gd name="connsiteX1" fmla="*/ 1808313 w 2367923"/>
              <a:gd name="connsiteY1" fmla="*/ 1193566 h 1193566"/>
              <a:gd name="connsiteX2" fmla="*/ 1799347 w 2367923"/>
              <a:gd name="connsiteY2" fmla="*/ 1187120 h 1193566"/>
              <a:gd name="connsiteX3" fmla="*/ 649671 w 2367923"/>
              <a:gd name="connsiteY3" fmla="*/ 1157610 h 1193566"/>
              <a:gd name="connsiteX4" fmla="*/ 612271 w 2367923"/>
              <a:gd name="connsiteY4" fmla="*/ 1184206 h 1193566"/>
              <a:gd name="connsiteX5" fmla="*/ 0 w 2367923"/>
              <a:gd name="connsiteY5" fmla="*/ 435374 h 1193566"/>
              <a:gd name="connsiteX6" fmla="*/ 2367923 w 2367923"/>
              <a:gd name="connsiteY6" fmla="*/ 332861 h 1193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67923" h="1193566">
                <a:moveTo>
                  <a:pt x="2367923" y="332861"/>
                </a:moveTo>
                <a:lnTo>
                  <a:pt x="1808313" y="1193566"/>
                </a:lnTo>
                <a:lnTo>
                  <a:pt x="1799347" y="1187120"/>
                </a:lnTo>
                <a:cubicBezTo>
                  <a:pt x="1430021" y="946993"/>
                  <a:pt x="977846" y="949055"/>
                  <a:pt x="649671" y="1157610"/>
                </a:cubicBezTo>
                <a:lnTo>
                  <a:pt x="612271" y="1184206"/>
                </a:lnTo>
                <a:lnTo>
                  <a:pt x="0" y="435374"/>
                </a:lnTo>
                <a:cubicBezTo>
                  <a:pt x="675149" y="-104807"/>
                  <a:pt x="1631115" y="-146193"/>
                  <a:pt x="2367923" y="332861"/>
                </a:cubicBezTo>
                <a:close/>
              </a:path>
            </a:pathLst>
          </a:custGeom>
          <a:ln>
            <a:solidFill>
              <a:srgbClr val="1A1A18"/>
            </a:solidFill>
          </a:ln>
        </p:spPr>
      </p:pic>
      <p:pic>
        <p:nvPicPr>
          <p:cNvPr id="97" name="Immagine 96">
            <a:extLst>
              <a:ext uri="{FF2B5EF4-FFF2-40B4-BE49-F238E27FC236}">
                <a16:creationId xmlns:a16="http://schemas.microsoft.com/office/drawing/2014/main" id="{7E94DC95-4841-AE8F-5BB2-5C513B8057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67" b="13567"/>
          <a:stretch/>
        </p:blipFill>
        <p:spPr>
          <a:xfrm rot="2403921">
            <a:off x="632930" y="1577287"/>
            <a:ext cx="2540073" cy="1240001"/>
          </a:xfrm>
          <a:custGeom>
            <a:avLst/>
            <a:gdLst>
              <a:gd name="connsiteX0" fmla="*/ 586199 w 2384784"/>
              <a:gd name="connsiteY0" fmla="*/ 1172490 h 1172490"/>
              <a:gd name="connsiteX1" fmla="*/ 0 w 2384784"/>
              <a:gd name="connsiteY1" fmla="*/ 381598 h 1172490"/>
              <a:gd name="connsiteX2" fmla="*/ 2384784 w 2384784"/>
              <a:gd name="connsiteY2" fmla="*/ 379414 h 1172490"/>
              <a:gd name="connsiteX3" fmla="*/ 1807502 w 2384784"/>
              <a:gd name="connsiteY3" fmla="*/ 1161265 h 1172490"/>
              <a:gd name="connsiteX4" fmla="*/ 1798759 w 2384784"/>
              <a:gd name="connsiteY4" fmla="*/ 1155218 h 1172490"/>
              <a:gd name="connsiteX5" fmla="*/ 1203979 w 2384784"/>
              <a:gd name="connsiteY5" fmla="*/ 987444 h 1172490"/>
              <a:gd name="connsiteX6" fmla="*/ 609506 w 2384784"/>
              <a:gd name="connsiteY6" fmla="*/ 1156308 h 1172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84784" h="1172490">
                <a:moveTo>
                  <a:pt x="586199" y="1172490"/>
                </a:moveTo>
                <a:lnTo>
                  <a:pt x="0" y="381598"/>
                </a:lnTo>
                <a:cubicBezTo>
                  <a:pt x="710541" y="-126393"/>
                  <a:pt x="1673315" y="-127274"/>
                  <a:pt x="2384784" y="379414"/>
                </a:cubicBezTo>
                <a:lnTo>
                  <a:pt x="1807502" y="1161265"/>
                </a:lnTo>
                <a:lnTo>
                  <a:pt x="1798759" y="1155218"/>
                </a:lnTo>
                <a:cubicBezTo>
                  <a:pt x="1628922" y="1049106"/>
                  <a:pt x="1424242" y="987242"/>
                  <a:pt x="1203979" y="987444"/>
                </a:cubicBezTo>
                <a:cubicBezTo>
                  <a:pt x="983716" y="987646"/>
                  <a:pt x="779148" y="1049884"/>
                  <a:pt x="609506" y="1156308"/>
                </a:cubicBezTo>
                <a:close/>
              </a:path>
            </a:pathLst>
          </a:custGeom>
          <a:ln>
            <a:solidFill>
              <a:srgbClr val="1A1A18"/>
            </a:solidFill>
          </a:ln>
        </p:spPr>
      </p:pic>
      <p:pic>
        <p:nvPicPr>
          <p:cNvPr id="98" name="Immagine 97">
            <a:extLst>
              <a:ext uri="{FF2B5EF4-FFF2-40B4-BE49-F238E27FC236}">
                <a16:creationId xmlns:a16="http://schemas.microsoft.com/office/drawing/2014/main" id="{DBCC79EA-56E0-9EDA-AA34-49157572A14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408" b="11408"/>
          <a:stretch/>
        </p:blipFill>
        <p:spPr>
          <a:xfrm rot="6583721">
            <a:off x="1116277" y="3323099"/>
            <a:ext cx="2503266" cy="1288091"/>
          </a:xfrm>
          <a:custGeom>
            <a:avLst/>
            <a:gdLst>
              <a:gd name="connsiteX0" fmla="*/ 2366977 w 2366977"/>
              <a:gd name="connsiteY0" fmla="*/ 431378 h 1209343"/>
              <a:gd name="connsiteX1" fmla="*/ 1763350 w 2366977"/>
              <a:gd name="connsiteY1" fmla="*/ 1209343 h 1209343"/>
              <a:gd name="connsiteX2" fmla="*/ 1724760 w 2366977"/>
              <a:gd name="connsiteY2" fmla="*/ 1174543 h 1209343"/>
              <a:gd name="connsiteX3" fmla="*/ 1464476 w 2366977"/>
              <a:gd name="connsiteY3" fmla="*/ 1026400 h 1209343"/>
              <a:gd name="connsiteX4" fmla="*/ 608514 w 2366977"/>
              <a:gd name="connsiteY4" fmla="*/ 1130480 h 1209343"/>
              <a:gd name="connsiteX5" fmla="*/ 534746 w 2366977"/>
              <a:gd name="connsiteY5" fmla="*/ 1182668 h 1209343"/>
              <a:gd name="connsiteX6" fmla="*/ 0 w 2366977"/>
              <a:gd name="connsiteY6" fmla="*/ 357120 h 1209343"/>
              <a:gd name="connsiteX7" fmla="*/ 2366977 w 2366977"/>
              <a:gd name="connsiteY7" fmla="*/ 431378 h 12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66977" h="1209343">
                <a:moveTo>
                  <a:pt x="2366977" y="431378"/>
                </a:moveTo>
                <a:lnTo>
                  <a:pt x="1763350" y="1209343"/>
                </a:lnTo>
                <a:lnTo>
                  <a:pt x="1724760" y="1174543"/>
                </a:lnTo>
                <a:cubicBezTo>
                  <a:pt x="1648178" y="1112481"/>
                  <a:pt x="1560997" y="1062074"/>
                  <a:pt x="1464476" y="1026400"/>
                </a:cubicBezTo>
                <a:cubicBezTo>
                  <a:pt x="1174914" y="919378"/>
                  <a:pt x="862969" y="967752"/>
                  <a:pt x="608514" y="1130480"/>
                </a:cubicBezTo>
                <a:lnTo>
                  <a:pt x="534746" y="1182668"/>
                </a:lnTo>
                <a:lnTo>
                  <a:pt x="0" y="357120"/>
                </a:lnTo>
                <a:cubicBezTo>
                  <a:pt x="730979" y="-145110"/>
                  <a:pt x="1686563" y="-115132"/>
                  <a:pt x="2366977" y="431378"/>
                </a:cubicBezTo>
                <a:close/>
              </a:path>
            </a:pathLst>
          </a:custGeom>
          <a:ln>
            <a:solidFill>
              <a:srgbClr val="1A1A18"/>
            </a:solidFill>
          </a:ln>
        </p:spPr>
      </p:pic>
      <p:pic>
        <p:nvPicPr>
          <p:cNvPr id="99" name="Immagine 98">
            <a:extLst>
              <a:ext uri="{FF2B5EF4-FFF2-40B4-BE49-F238E27FC236}">
                <a16:creationId xmlns:a16="http://schemas.microsoft.com/office/drawing/2014/main" id="{45E9FD35-A6EC-48E6-B647-194C13F055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58" b="7758"/>
          <a:stretch/>
        </p:blipFill>
        <p:spPr>
          <a:xfrm rot="19855173">
            <a:off x="-1156326" y="1419971"/>
            <a:ext cx="2478790" cy="1292408"/>
          </a:xfrm>
          <a:custGeom>
            <a:avLst/>
            <a:gdLst>
              <a:gd name="connsiteX0" fmla="*/ 0 w 2343834"/>
              <a:gd name="connsiteY0" fmla="*/ 441432 h 1213396"/>
              <a:gd name="connsiteX1" fmla="*/ 2343834 w 2343834"/>
              <a:gd name="connsiteY1" fmla="*/ 334972 h 1213396"/>
              <a:gd name="connsiteX2" fmla="*/ 1813435 w 2343834"/>
              <a:gd name="connsiteY2" fmla="*/ 1164320 h 1213396"/>
              <a:gd name="connsiteX3" fmla="*/ 1754638 w 2343834"/>
              <a:gd name="connsiteY3" fmla="*/ 1124102 h 1213396"/>
              <a:gd name="connsiteX4" fmla="*/ 906090 w 2343834"/>
              <a:gd name="connsiteY4" fmla="*/ 1033944 h 1213396"/>
              <a:gd name="connsiteX5" fmla="*/ 649372 w 2343834"/>
              <a:gd name="connsiteY5" fmla="*/ 1183193 h 1213396"/>
              <a:gd name="connsiteX6" fmla="*/ 616363 w 2343834"/>
              <a:gd name="connsiteY6" fmla="*/ 1213396 h 121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43834" h="1213396">
                <a:moveTo>
                  <a:pt x="0" y="441432"/>
                </a:moveTo>
                <a:cubicBezTo>
                  <a:pt x="669935" y="-105201"/>
                  <a:pt x="1616176" y="-148180"/>
                  <a:pt x="2343834" y="334972"/>
                </a:cubicBezTo>
                <a:lnTo>
                  <a:pt x="1813435" y="1164320"/>
                </a:lnTo>
                <a:lnTo>
                  <a:pt x="1754638" y="1124102"/>
                </a:lnTo>
                <a:cubicBezTo>
                  <a:pt x="1501427" y="967804"/>
                  <a:pt x="1192108" y="924686"/>
                  <a:pt x="906090" y="1033944"/>
                </a:cubicBezTo>
                <a:cubicBezTo>
                  <a:pt x="810752" y="1070363"/>
                  <a:pt x="724770" y="1121127"/>
                  <a:pt x="649372" y="1183193"/>
                </a:cubicBezTo>
                <a:lnTo>
                  <a:pt x="616363" y="1213396"/>
                </a:lnTo>
                <a:close/>
              </a:path>
            </a:pathLst>
          </a:custGeom>
          <a:ln>
            <a:solidFill>
              <a:srgbClr val="1A1A18"/>
            </a:solidFill>
          </a:ln>
        </p:spPr>
      </p:pic>
      <p:pic>
        <p:nvPicPr>
          <p:cNvPr id="100" name="Immagine 99">
            <a:extLst>
              <a:ext uri="{FF2B5EF4-FFF2-40B4-BE49-F238E27FC236}">
                <a16:creationId xmlns:a16="http://schemas.microsoft.com/office/drawing/2014/main" id="{81634098-F27F-709F-3317-A46EF8F0D1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2" r="2662"/>
          <a:stretch/>
        </p:blipFill>
        <p:spPr>
          <a:xfrm rot="14803744">
            <a:off x="-1809631" y="3013840"/>
            <a:ext cx="2494801" cy="1332279"/>
          </a:xfrm>
          <a:custGeom>
            <a:avLst/>
            <a:gdLst>
              <a:gd name="connsiteX0" fmla="*/ 300947 w 2342280"/>
              <a:gd name="connsiteY0" fmla="*/ 97195 h 1259744"/>
              <a:gd name="connsiteX1" fmla="*/ 2342280 w 2342280"/>
              <a:gd name="connsiteY1" fmla="*/ 582472 h 1259744"/>
              <a:gd name="connsiteX2" fmla="*/ 1651027 w 2342280"/>
              <a:gd name="connsiteY2" fmla="*/ 1259744 h 1259744"/>
              <a:gd name="connsiteX3" fmla="*/ 1616664 w 2342280"/>
              <a:gd name="connsiteY3" fmla="*/ 1229094 h 1259744"/>
              <a:gd name="connsiteX4" fmla="*/ 470718 w 2342280"/>
              <a:gd name="connsiteY4" fmla="*/ 1131972 h 1259744"/>
              <a:gd name="connsiteX5" fmla="*/ 461534 w 2342280"/>
              <a:gd name="connsiteY5" fmla="*/ 1137146 h 1259744"/>
              <a:gd name="connsiteX6" fmla="*/ 0 w 2342280"/>
              <a:gd name="connsiteY6" fmla="*/ 220132 h 1259744"/>
              <a:gd name="connsiteX7" fmla="*/ 300947 w 2342280"/>
              <a:gd name="connsiteY7" fmla="*/ 97195 h 1259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42280" h="1259744">
                <a:moveTo>
                  <a:pt x="300947" y="97195"/>
                </a:moveTo>
                <a:cubicBezTo>
                  <a:pt x="1016214" y="-131140"/>
                  <a:pt x="1807098" y="47703"/>
                  <a:pt x="2342280" y="582472"/>
                </a:cubicBezTo>
                <a:lnTo>
                  <a:pt x="1651027" y="1259744"/>
                </a:lnTo>
                <a:lnTo>
                  <a:pt x="1616664" y="1229094"/>
                </a:lnTo>
                <a:cubicBezTo>
                  <a:pt x="1313420" y="985708"/>
                  <a:pt x="864215" y="933924"/>
                  <a:pt x="470718" y="1131972"/>
                </a:cubicBezTo>
                <a:lnTo>
                  <a:pt x="461534" y="1137146"/>
                </a:lnTo>
                <a:lnTo>
                  <a:pt x="0" y="220132"/>
                </a:lnTo>
                <a:cubicBezTo>
                  <a:pt x="98128" y="170744"/>
                  <a:pt x="198767" y="129815"/>
                  <a:pt x="300947" y="97195"/>
                </a:cubicBezTo>
                <a:close/>
              </a:path>
            </a:pathLst>
          </a:custGeom>
          <a:ln>
            <a:solidFill>
              <a:srgbClr val="1A1A18"/>
            </a:solidFill>
          </a:ln>
        </p:spPr>
      </p:pic>
      <p:sp>
        <p:nvSpPr>
          <p:cNvPr id="2" name="Figura a mano libera: forma 1">
            <a:extLst>
              <a:ext uri="{FF2B5EF4-FFF2-40B4-BE49-F238E27FC236}">
                <a16:creationId xmlns:a16="http://schemas.microsoft.com/office/drawing/2014/main" id="{EDA6901C-B18A-83B0-8C19-022BEABFAAE7}"/>
              </a:ext>
            </a:extLst>
          </p:cNvPr>
          <p:cNvSpPr/>
          <p:nvPr/>
        </p:nvSpPr>
        <p:spPr>
          <a:xfrm rot="18615892">
            <a:off x="-123736" y="2234986"/>
            <a:ext cx="2097301" cy="2257245"/>
          </a:xfrm>
          <a:custGeom>
            <a:avLst/>
            <a:gdLst>
              <a:gd name="connsiteX0" fmla="*/ 1112532 w 2215988"/>
              <a:gd name="connsiteY0" fmla="*/ 54878 h 2058934"/>
              <a:gd name="connsiteX1" fmla="*/ 71253 w 2215988"/>
              <a:gd name="connsiteY1" fmla="*/ 1020979 h 2058934"/>
              <a:gd name="connsiteX2" fmla="*/ 1112532 w 2215988"/>
              <a:gd name="connsiteY2" fmla="*/ 1987080 h 2058934"/>
              <a:gd name="connsiteX3" fmla="*/ 2153811 w 2215988"/>
              <a:gd name="connsiteY3" fmla="*/ 1020979 h 2058934"/>
              <a:gd name="connsiteX4" fmla="*/ 1112532 w 2215988"/>
              <a:gd name="connsiteY4" fmla="*/ 54878 h 2058934"/>
              <a:gd name="connsiteX5" fmla="*/ 1107994 w 2215988"/>
              <a:gd name="connsiteY5" fmla="*/ 0 h 2058934"/>
              <a:gd name="connsiteX6" fmla="*/ 2215988 w 2215988"/>
              <a:gd name="connsiteY6" fmla="*/ 1029467 h 2058934"/>
              <a:gd name="connsiteX7" fmla="*/ 1107994 w 2215988"/>
              <a:gd name="connsiteY7" fmla="*/ 2058934 h 2058934"/>
              <a:gd name="connsiteX8" fmla="*/ 0 w 2215988"/>
              <a:gd name="connsiteY8" fmla="*/ 1029467 h 2058934"/>
              <a:gd name="connsiteX9" fmla="*/ 1107994 w 2215988"/>
              <a:gd name="connsiteY9" fmla="*/ 0 h 2058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15988" h="2058934">
                <a:moveTo>
                  <a:pt x="1112532" y="54878"/>
                </a:moveTo>
                <a:cubicBezTo>
                  <a:pt x="537449" y="54878"/>
                  <a:pt x="71253" y="487416"/>
                  <a:pt x="71253" y="1020979"/>
                </a:cubicBezTo>
                <a:cubicBezTo>
                  <a:pt x="71253" y="1554542"/>
                  <a:pt x="537449" y="1987080"/>
                  <a:pt x="1112532" y="1987080"/>
                </a:cubicBezTo>
                <a:cubicBezTo>
                  <a:pt x="1687615" y="1987080"/>
                  <a:pt x="2153811" y="1554542"/>
                  <a:pt x="2153811" y="1020979"/>
                </a:cubicBezTo>
                <a:cubicBezTo>
                  <a:pt x="2153811" y="487416"/>
                  <a:pt x="1687615" y="54878"/>
                  <a:pt x="1112532" y="54878"/>
                </a:cubicBezTo>
                <a:close/>
                <a:moveTo>
                  <a:pt x="1107994" y="0"/>
                </a:moveTo>
                <a:cubicBezTo>
                  <a:pt x="1719922" y="0"/>
                  <a:pt x="2215988" y="460908"/>
                  <a:pt x="2215988" y="1029467"/>
                </a:cubicBezTo>
                <a:cubicBezTo>
                  <a:pt x="2215988" y="1598026"/>
                  <a:pt x="1719922" y="2058934"/>
                  <a:pt x="1107994" y="2058934"/>
                </a:cubicBezTo>
                <a:cubicBezTo>
                  <a:pt x="496066" y="2058934"/>
                  <a:pt x="0" y="1598026"/>
                  <a:pt x="0" y="1029467"/>
                </a:cubicBezTo>
                <a:cubicBezTo>
                  <a:pt x="0" y="460908"/>
                  <a:pt x="496066" y="0"/>
                  <a:pt x="1107994" y="0"/>
                </a:cubicBezTo>
                <a:close/>
              </a:path>
            </a:pathLst>
          </a:custGeom>
          <a:solidFill>
            <a:srgbClr val="CC190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8143C052-9D60-7D4D-2463-DAB0D1452D32}"/>
              </a:ext>
            </a:extLst>
          </p:cNvPr>
          <p:cNvSpPr/>
          <p:nvPr/>
        </p:nvSpPr>
        <p:spPr>
          <a:xfrm>
            <a:off x="10314105" y="171698"/>
            <a:ext cx="1651413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ln/>
                <a:solidFill>
                  <a:srgbClr val="C00000"/>
                </a:solidFill>
                <a:latin typeface="Book Antiqua" panose="02040602050305030304" pitchFamily="18" charset="0"/>
              </a:rPr>
              <a:t>Vision-Guided </a:t>
            </a:r>
          </a:p>
          <a:p>
            <a:pPr algn="ctr"/>
            <a:r>
              <a:rPr lang="en-US" sz="1400" b="1" dirty="0">
                <a:ln/>
                <a:solidFill>
                  <a:srgbClr val="C00000"/>
                </a:solidFill>
                <a:latin typeface="Book Antiqua" panose="02040602050305030304" pitchFamily="18" charset="0"/>
              </a:rPr>
              <a:t>Pick-and-Place</a:t>
            </a:r>
            <a:endParaRPr lang="it-IT" sz="1600" b="1" dirty="0">
              <a:ln/>
              <a:solidFill>
                <a:srgbClr val="C00000"/>
              </a:solidFill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A0FEBDA8-AA74-6E3D-0C92-5194420BEB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6618" y="2270451"/>
            <a:ext cx="6237884" cy="4179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353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3AE31-F2FD-AEA4-A1C4-2570B5FD5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3143536E-6BD4-5D34-F7F4-9622E5739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6" y="2432997"/>
            <a:ext cx="1891944" cy="1771748"/>
          </a:xfrm>
          <a:prstGeom prst="rect">
            <a:avLst/>
          </a:prstGeom>
        </p:spPr>
      </p:pic>
      <p:grpSp>
        <p:nvGrpSpPr>
          <p:cNvPr id="20" name="Gruppo 19">
            <a:extLst>
              <a:ext uri="{FF2B5EF4-FFF2-40B4-BE49-F238E27FC236}">
                <a16:creationId xmlns:a16="http://schemas.microsoft.com/office/drawing/2014/main" id="{FB4ECCFB-4115-333F-C152-77F07B294534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</p:grpSpPr>
        <p:sp>
          <p:nvSpPr>
            <p:cNvPr id="21" name="Rettangolo 20">
              <a:extLst>
                <a:ext uri="{FF2B5EF4-FFF2-40B4-BE49-F238E27FC236}">
                  <a16:creationId xmlns:a16="http://schemas.microsoft.com/office/drawing/2014/main" id="{53E1B88A-0B76-C6A2-B6A8-C7D512E1C71D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solidFill>
              <a:srgbClr val="CC1906"/>
            </a:solidFill>
            <a:ln>
              <a:solidFill>
                <a:srgbClr val="CC190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2" name="Rettangolo 21">
              <a:extLst>
                <a:ext uri="{FF2B5EF4-FFF2-40B4-BE49-F238E27FC236}">
                  <a16:creationId xmlns:a16="http://schemas.microsoft.com/office/drawing/2014/main" id="{D00E6EA2-B538-47CB-E770-C7A3ABBC06C4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solidFill>
              <a:srgbClr val="CC1906"/>
            </a:solidFill>
            <a:ln>
              <a:solidFill>
                <a:srgbClr val="CC190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BAD1BE03-5D48-1707-BF43-09BFFD373BD4}"/>
              </a:ext>
            </a:extLst>
          </p:cNvPr>
          <p:cNvSpPr txBox="1"/>
          <p:nvPr/>
        </p:nvSpPr>
        <p:spPr>
          <a:xfrm>
            <a:off x="3603296" y="904888"/>
            <a:ext cx="5980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rgbClr val="C00000"/>
                </a:solidFill>
                <a:latin typeface="Book Antiqua" panose="02040602050305030304" pitchFamily="18" charset="0"/>
              </a:rPr>
              <a:t>Planning Package</a:t>
            </a:r>
            <a:endParaRPr lang="en-US" sz="2400" b="1" u="sng" dirty="0">
              <a:latin typeface="Book Antiqua" panose="02040602050305030304" pitchFamily="18" charset="0"/>
            </a:endParaRP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673D8F2E-5340-6202-FEF8-3A67A52C8F63}"/>
              </a:ext>
            </a:extLst>
          </p:cNvPr>
          <p:cNvSpPr txBox="1"/>
          <p:nvPr/>
        </p:nvSpPr>
        <p:spPr>
          <a:xfrm>
            <a:off x="4151994" y="1329147"/>
            <a:ext cx="69271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Book Antiqua" panose="02040602050305030304" pitchFamily="18" charset="0"/>
              </a:rPr>
              <a:t>Control Node FSM</a:t>
            </a:r>
            <a:r>
              <a:rPr lang="en-US" sz="1600" dirty="0">
                <a:latin typeface="Book Antiqua" panose="02040602050305030304" pitchFamily="18" charset="0"/>
              </a:rPr>
              <a:t> reacts to each </a:t>
            </a:r>
            <a:r>
              <a:rPr lang="en-US" sz="1600" dirty="0" err="1">
                <a:latin typeface="Book Antiqua" panose="02040602050305030304" pitchFamily="18" charset="0"/>
              </a:rPr>
              <a:t>ClassPose</a:t>
            </a:r>
            <a:r>
              <a:rPr lang="en-US" sz="1600" dirty="0">
                <a:latin typeface="Book Antiqua" panose="02040602050305030304" pitchFamily="18" charset="0"/>
              </a:rPr>
              <a:t>, cycling through </a:t>
            </a:r>
            <a:r>
              <a:rPr lang="en-US" sz="1600" b="1" dirty="0">
                <a:latin typeface="Book Antiqua" panose="02040602050305030304" pitchFamily="18" charset="0"/>
              </a:rPr>
              <a:t>approach → pre-grasp → grasp → retreat → place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Book Antiqua" panose="02040602050305030304" pitchFamily="18" charset="0"/>
              </a:rPr>
              <a:t>FSM picks tactic, sends start/goal poses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Book Antiqua" panose="02040602050305030304" pitchFamily="18" charset="0"/>
              </a:rPr>
              <a:t>It publishes start/goal poses on </a:t>
            </a:r>
            <a:r>
              <a:rPr lang="en-US" sz="1600" i="1" dirty="0">
                <a:latin typeface="Book Antiqua" panose="02040602050305030304" pitchFamily="18" charset="0"/>
              </a:rPr>
              <a:t>/</a:t>
            </a:r>
            <a:r>
              <a:rPr lang="en-US" sz="1600" i="1" dirty="0" err="1">
                <a:latin typeface="Book Antiqua" panose="02040602050305030304" pitchFamily="18" charset="0"/>
              </a:rPr>
              <a:t>path_extrema</a:t>
            </a:r>
            <a:r>
              <a:rPr lang="en-US" sz="1600" dirty="0">
                <a:latin typeface="Book Antiqua" panose="02040602050305030304" pitchFamily="18" charset="0"/>
              </a:rPr>
              <a:t>, triggers motion, and waits for </a:t>
            </a:r>
            <a:r>
              <a:rPr lang="en-US" sz="1600" i="1" dirty="0">
                <a:latin typeface="Book Antiqua" panose="02040602050305030304" pitchFamily="18" charset="0"/>
              </a:rPr>
              <a:t>/</a:t>
            </a:r>
            <a:r>
              <a:rPr lang="en-US" sz="1600" i="1" dirty="0" err="1">
                <a:latin typeface="Book Antiqua" panose="02040602050305030304" pitchFamily="18" charset="0"/>
              </a:rPr>
              <a:t>trajectory_executed</a:t>
            </a:r>
            <a:r>
              <a:rPr lang="en-US" sz="1600" dirty="0">
                <a:latin typeface="Book Antiqua" panose="02040602050305030304" pitchFamily="18" charset="0"/>
              </a:rPr>
              <a:t> feedback before advancing.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Book Antiqua" panose="02040602050305030304" pitchFamily="18" charset="0"/>
              </a:rPr>
              <a:t>Trajectory Execution</a:t>
            </a:r>
            <a:r>
              <a:rPr lang="en-US" sz="1600" dirty="0">
                <a:latin typeface="Book Antiqua" panose="02040602050305030304" pitchFamily="18" charset="0"/>
              </a:rPr>
              <a:t> converts </a:t>
            </a:r>
            <a:r>
              <a:rPr lang="en-US" sz="1600" dirty="0" err="1">
                <a:latin typeface="Book Antiqua" panose="02040602050305030304" pitchFamily="18" charset="0"/>
              </a:rPr>
              <a:t>ViaPoints</a:t>
            </a:r>
            <a:r>
              <a:rPr lang="en-US" sz="1600" dirty="0">
                <a:latin typeface="Book Antiqua" panose="02040602050305030304" pitchFamily="18" charset="0"/>
              </a:rPr>
              <a:t> to a </a:t>
            </a:r>
            <a:r>
              <a:rPr lang="en-US" sz="1600" dirty="0" err="1">
                <a:latin typeface="Book Antiqua" panose="02040602050305030304" pitchFamily="18" charset="0"/>
              </a:rPr>
              <a:t>MoveIt</a:t>
            </a:r>
            <a:r>
              <a:rPr lang="en-US" sz="1600" dirty="0">
                <a:latin typeface="Book Antiqua" panose="02040602050305030304" pitchFamily="18" charset="0"/>
              </a:rPr>
              <a:t> </a:t>
            </a:r>
            <a:r>
              <a:rPr lang="en-US" sz="1600" dirty="0" err="1">
                <a:latin typeface="Book Antiqua" panose="02040602050305030304" pitchFamily="18" charset="0"/>
              </a:rPr>
              <a:t>JointTrajectory</a:t>
            </a:r>
            <a:r>
              <a:rPr lang="en-US" sz="1600" dirty="0">
                <a:latin typeface="Book Antiqua" panose="02040602050305030304" pitchFamily="18" charset="0"/>
              </a:rPr>
              <a:t>, drives the UR5, and flags completion for the next FSM step.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EDDDC4A9-57D8-E6EC-1D7D-513352FF8BB0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</a:t>
            </a:r>
            <a:r>
              <a:rPr lang="it-IT" sz="1200" dirty="0" err="1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Nivriti</a:t>
            </a:r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it-IT" sz="1200" dirty="0" err="1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Raisingh</a:t>
            </a:r>
            <a:endParaRPr lang="it-IT" sz="1200" dirty="0">
              <a:solidFill>
                <a:schemeClr val="bg1">
                  <a:lumMod val="65000"/>
                </a:schemeClr>
              </a:solidFill>
              <a:latin typeface="Book Antiqua" panose="02040602050305030304" pitchFamily="18" charset="0"/>
            </a:endParaRPr>
          </a:p>
        </p:txBody>
      </p:sp>
      <p:cxnSp>
        <p:nvCxnSpPr>
          <p:cNvPr id="36" name="Connettore diritto 35">
            <a:extLst>
              <a:ext uri="{FF2B5EF4-FFF2-40B4-BE49-F238E27FC236}">
                <a16:creationId xmlns:a16="http://schemas.microsoft.com/office/drawing/2014/main" id="{F34EEB8F-FAA7-444B-CADC-BD407973E34C}"/>
              </a:ext>
            </a:extLst>
          </p:cNvPr>
          <p:cNvCxnSpPr>
            <a:cxnSpLocks/>
          </p:cNvCxnSpPr>
          <p:nvPr/>
        </p:nvCxnSpPr>
        <p:spPr>
          <a:xfrm flipV="1">
            <a:off x="2268042" y="1277977"/>
            <a:ext cx="1435857" cy="31441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Immagine 94">
            <a:extLst>
              <a:ext uri="{FF2B5EF4-FFF2-40B4-BE49-F238E27FC236}">
                <a16:creationId xmlns:a16="http://schemas.microsoft.com/office/drawing/2014/main" id="{71480B23-286C-B659-EE32-083778005E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463" b="12463"/>
          <a:stretch/>
        </p:blipFill>
        <p:spPr>
          <a:xfrm rot="7008273">
            <a:off x="1016353" y="3337656"/>
            <a:ext cx="2522113" cy="1262291"/>
          </a:xfrm>
          <a:custGeom>
            <a:avLst/>
            <a:gdLst>
              <a:gd name="connsiteX0" fmla="*/ 2367923 w 2367923"/>
              <a:gd name="connsiteY0" fmla="*/ 332861 h 1193566"/>
              <a:gd name="connsiteX1" fmla="*/ 1808313 w 2367923"/>
              <a:gd name="connsiteY1" fmla="*/ 1193566 h 1193566"/>
              <a:gd name="connsiteX2" fmla="*/ 1799347 w 2367923"/>
              <a:gd name="connsiteY2" fmla="*/ 1187120 h 1193566"/>
              <a:gd name="connsiteX3" fmla="*/ 649671 w 2367923"/>
              <a:gd name="connsiteY3" fmla="*/ 1157610 h 1193566"/>
              <a:gd name="connsiteX4" fmla="*/ 612271 w 2367923"/>
              <a:gd name="connsiteY4" fmla="*/ 1184206 h 1193566"/>
              <a:gd name="connsiteX5" fmla="*/ 0 w 2367923"/>
              <a:gd name="connsiteY5" fmla="*/ 435374 h 1193566"/>
              <a:gd name="connsiteX6" fmla="*/ 2367923 w 2367923"/>
              <a:gd name="connsiteY6" fmla="*/ 332861 h 1193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67923" h="1193566">
                <a:moveTo>
                  <a:pt x="2367923" y="332861"/>
                </a:moveTo>
                <a:lnTo>
                  <a:pt x="1808313" y="1193566"/>
                </a:lnTo>
                <a:lnTo>
                  <a:pt x="1799347" y="1187120"/>
                </a:lnTo>
                <a:cubicBezTo>
                  <a:pt x="1430021" y="946993"/>
                  <a:pt x="977846" y="949055"/>
                  <a:pt x="649671" y="1157610"/>
                </a:cubicBezTo>
                <a:lnTo>
                  <a:pt x="612271" y="1184206"/>
                </a:lnTo>
                <a:lnTo>
                  <a:pt x="0" y="435374"/>
                </a:lnTo>
                <a:cubicBezTo>
                  <a:pt x="675149" y="-104807"/>
                  <a:pt x="1631115" y="-146193"/>
                  <a:pt x="2367923" y="332861"/>
                </a:cubicBezTo>
                <a:close/>
              </a:path>
            </a:pathLst>
          </a:custGeom>
          <a:ln>
            <a:solidFill>
              <a:srgbClr val="1A1A18"/>
            </a:solidFill>
          </a:ln>
        </p:spPr>
      </p:pic>
      <p:pic>
        <p:nvPicPr>
          <p:cNvPr id="97" name="Immagine 96">
            <a:extLst>
              <a:ext uri="{FF2B5EF4-FFF2-40B4-BE49-F238E27FC236}">
                <a16:creationId xmlns:a16="http://schemas.microsoft.com/office/drawing/2014/main" id="{C7ABC958-A027-D513-8EE9-1CDC294503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67" b="13567"/>
          <a:stretch/>
        </p:blipFill>
        <p:spPr>
          <a:xfrm rot="19793278">
            <a:off x="-1189744" y="1445203"/>
            <a:ext cx="2540073" cy="1240001"/>
          </a:xfrm>
          <a:custGeom>
            <a:avLst/>
            <a:gdLst>
              <a:gd name="connsiteX0" fmla="*/ 586199 w 2384784"/>
              <a:gd name="connsiteY0" fmla="*/ 1172490 h 1172490"/>
              <a:gd name="connsiteX1" fmla="*/ 0 w 2384784"/>
              <a:gd name="connsiteY1" fmla="*/ 381598 h 1172490"/>
              <a:gd name="connsiteX2" fmla="*/ 2384784 w 2384784"/>
              <a:gd name="connsiteY2" fmla="*/ 379414 h 1172490"/>
              <a:gd name="connsiteX3" fmla="*/ 1807502 w 2384784"/>
              <a:gd name="connsiteY3" fmla="*/ 1161265 h 1172490"/>
              <a:gd name="connsiteX4" fmla="*/ 1798759 w 2384784"/>
              <a:gd name="connsiteY4" fmla="*/ 1155218 h 1172490"/>
              <a:gd name="connsiteX5" fmla="*/ 1203979 w 2384784"/>
              <a:gd name="connsiteY5" fmla="*/ 987444 h 1172490"/>
              <a:gd name="connsiteX6" fmla="*/ 609506 w 2384784"/>
              <a:gd name="connsiteY6" fmla="*/ 1156308 h 1172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84784" h="1172490">
                <a:moveTo>
                  <a:pt x="586199" y="1172490"/>
                </a:moveTo>
                <a:lnTo>
                  <a:pt x="0" y="381598"/>
                </a:lnTo>
                <a:cubicBezTo>
                  <a:pt x="710541" y="-126393"/>
                  <a:pt x="1673315" y="-127274"/>
                  <a:pt x="2384784" y="379414"/>
                </a:cubicBezTo>
                <a:lnTo>
                  <a:pt x="1807502" y="1161265"/>
                </a:lnTo>
                <a:lnTo>
                  <a:pt x="1798759" y="1155218"/>
                </a:lnTo>
                <a:cubicBezTo>
                  <a:pt x="1628922" y="1049106"/>
                  <a:pt x="1424242" y="987242"/>
                  <a:pt x="1203979" y="987444"/>
                </a:cubicBezTo>
                <a:cubicBezTo>
                  <a:pt x="983716" y="987646"/>
                  <a:pt x="779148" y="1049884"/>
                  <a:pt x="609506" y="1156308"/>
                </a:cubicBezTo>
                <a:close/>
              </a:path>
            </a:pathLst>
          </a:custGeom>
          <a:ln>
            <a:solidFill>
              <a:srgbClr val="1A1A18"/>
            </a:solidFill>
          </a:ln>
        </p:spPr>
      </p:pic>
      <p:pic>
        <p:nvPicPr>
          <p:cNvPr id="98" name="Immagine 97">
            <a:extLst>
              <a:ext uri="{FF2B5EF4-FFF2-40B4-BE49-F238E27FC236}">
                <a16:creationId xmlns:a16="http://schemas.microsoft.com/office/drawing/2014/main" id="{1D51C926-D8EE-D987-4D4D-0DFE330A625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408" b="11408"/>
          <a:stretch/>
        </p:blipFill>
        <p:spPr>
          <a:xfrm rot="2373078">
            <a:off x="651314" y="1583939"/>
            <a:ext cx="2503266" cy="1288091"/>
          </a:xfrm>
          <a:custGeom>
            <a:avLst/>
            <a:gdLst>
              <a:gd name="connsiteX0" fmla="*/ 2366977 w 2366977"/>
              <a:gd name="connsiteY0" fmla="*/ 431378 h 1209343"/>
              <a:gd name="connsiteX1" fmla="*/ 1763350 w 2366977"/>
              <a:gd name="connsiteY1" fmla="*/ 1209343 h 1209343"/>
              <a:gd name="connsiteX2" fmla="*/ 1724760 w 2366977"/>
              <a:gd name="connsiteY2" fmla="*/ 1174543 h 1209343"/>
              <a:gd name="connsiteX3" fmla="*/ 1464476 w 2366977"/>
              <a:gd name="connsiteY3" fmla="*/ 1026400 h 1209343"/>
              <a:gd name="connsiteX4" fmla="*/ 608514 w 2366977"/>
              <a:gd name="connsiteY4" fmla="*/ 1130480 h 1209343"/>
              <a:gd name="connsiteX5" fmla="*/ 534746 w 2366977"/>
              <a:gd name="connsiteY5" fmla="*/ 1182668 h 1209343"/>
              <a:gd name="connsiteX6" fmla="*/ 0 w 2366977"/>
              <a:gd name="connsiteY6" fmla="*/ 357120 h 1209343"/>
              <a:gd name="connsiteX7" fmla="*/ 2366977 w 2366977"/>
              <a:gd name="connsiteY7" fmla="*/ 431378 h 12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66977" h="1209343">
                <a:moveTo>
                  <a:pt x="2366977" y="431378"/>
                </a:moveTo>
                <a:lnTo>
                  <a:pt x="1763350" y="1209343"/>
                </a:lnTo>
                <a:lnTo>
                  <a:pt x="1724760" y="1174543"/>
                </a:lnTo>
                <a:cubicBezTo>
                  <a:pt x="1648178" y="1112481"/>
                  <a:pt x="1560997" y="1062074"/>
                  <a:pt x="1464476" y="1026400"/>
                </a:cubicBezTo>
                <a:cubicBezTo>
                  <a:pt x="1174914" y="919378"/>
                  <a:pt x="862969" y="967752"/>
                  <a:pt x="608514" y="1130480"/>
                </a:cubicBezTo>
                <a:lnTo>
                  <a:pt x="534746" y="1182668"/>
                </a:lnTo>
                <a:lnTo>
                  <a:pt x="0" y="357120"/>
                </a:lnTo>
                <a:cubicBezTo>
                  <a:pt x="730979" y="-145110"/>
                  <a:pt x="1686563" y="-115132"/>
                  <a:pt x="2366977" y="431378"/>
                </a:cubicBezTo>
                <a:close/>
              </a:path>
            </a:pathLst>
          </a:custGeom>
          <a:ln>
            <a:solidFill>
              <a:srgbClr val="1A1A18"/>
            </a:solidFill>
          </a:ln>
        </p:spPr>
      </p:pic>
      <p:pic>
        <p:nvPicPr>
          <p:cNvPr id="99" name="Immagine 98">
            <a:extLst>
              <a:ext uri="{FF2B5EF4-FFF2-40B4-BE49-F238E27FC236}">
                <a16:creationId xmlns:a16="http://schemas.microsoft.com/office/drawing/2014/main" id="{365173CB-981D-3D79-E63C-F3DED92E07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58" b="7758"/>
          <a:stretch/>
        </p:blipFill>
        <p:spPr>
          <a:xfrm rot="15644530">
            <a:off x="-1899590" y="3086601"/>
            <a:ext cx="2478790" cy="1292408"/>
          </a:xfrm>
          <a:custGeom>
            <a:avLst/>
            <a:gdLst>
              <a:gd name="connsiteX0" fmla="*/ 0 w 2343834"/>
              <a:gd name="connsiteY0" fmla="*/ 441432 h 1213396"/>
              <a:gd name="connsiteX1" fmla="*/ 2343834 w 2343834"/>
              <a:gd name="connsiteY1" fmla="*/ 334972 h 1213396"/>
              <a:gd name="connsiteX2" fmla="*/ 1813435 w 2343834"/>
              <a:gd name="connsiteY2" fmla="*/ 1164320 h 1213396"/>
              <a:gd name="connsiteX3" fmla="*/ 1754638 w 2343834"/>
              <a:gd name="connsiteY3" fmla="*/ 1124102 h 1213396"/>
              <a:gd name="connsiteX4" fmla="*/ 906090 w 2343834"/>
              <a:gd name="connsiteY4" fmla="*/ 1033944 h 1213396"/>
              <a:gd name="connsiteX5" fmla="*/ 649372 w 2343834"/>
              <a:gd name="connsiteY5" fmla="*/ 1183193 h 1213396"/>
              <a:gd name="connsiteX6" fmla="*/ 616363 w 2343834"/>
              <a:gd name="connsiteY6" fmla="*/ 1213396 h 121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43834" h="1213396">
                <a:moveTo>
                  <a:pt x="0" y="441432"/>
                </a:moveTo>
                <a:cubicBezTo>
                  <a:pt x="669935" y="-105201"/>
                  <a:pt x="1616176" y="-148180"/>
                  <a:pt x="2343834" y="334972"/>
                </a:cubicBezTo>
                <a:lnTo>
                  <a:pt x="1813435" y="1164320"/>
                </a:lnTo>
                <a:lnTo>
                  <a:pt x="1754638" y="1124102"/>
                </a:lnTo>
                <a:cubicBezTo>
                  <a:pt x="1501427" y="967804"/>
                  <a:pt x="1192108" y="924686"/>
                  <a:pt x="906090" y="1033944"/>
                </a:cubicBezTo>
                <a:cubicBezTo>
                  <a:pt x="810752" y="1070363"/>
                  <a:pt x="724770" y="1121127"/>
                  <a:pt x="649372" y="1183193"/>
                </a:cubicBezTo>
                <a:lnTo>
                  <a:pt x="616363" y="1213396"/>
                </a:lnTo>
                <a:close/>
              </a:path>
            </a:pathLst>
          </a:custGeom>
          <a:ln>
            <a:solidFill>
              <a:srgbClr val="1A1A18"/>
            </a:solidFill>
          </a:ln>
        </p:spPr>
      </p:pic>
      <p:pic>
        <p:nvPicPr>
          <p:cNvPr id="100" name="Immagine 99">
            <a:extLst>
              <a:ext uri="{FF2B5EF4-FFF2-40B4-BE49-F238E27FC236}">
                <a16:creationId xmlns:a16="http://schemas.microsoft.com/office/drawing/2014/main" id="{358AE7A1-ABDB-F3C6-D1A9-155A550C66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2" r="2662"/>
          <a:stretch/>
        </p:blipFill>
        <p:spPr>
          <a:xfrm rot="10593101">
            <a:off x="-608241" y="4220985"/>
            <a:ext cx="2494801" cy="1332279"/>
          </a:xfrm>
          <a:custGeom>
            <a:avLst/>
            <a:gdLst>
              <a:gd name="connsiteX0" fmla="*/ 300947 w 2342280"/>
              <a:gd name="connsiteY0" fmla="*/ 97195 h 1259744"/>
              <a:gd name="connsiteX1" fmla="*/ 2342280 w 2342280"/>
              <a:gd name="connsiteY1" fmla="*/ 582472 h 1259744"/>
              <a:gd name="connsiteX2" fmla="*/ 1651027 w 2342280"/>
              <a:gd name="connsiteY2" fmla="*/ 1259744 h 1259744"/>
              <a:gd name="connsiteX3" fmla="*/ 1616664 w 2342280"/>
              <a:gd name="connsiteY3" fmla="*/ 1229094 h 1259744"/>
              <a:gd name="connsiteX4" fmla="*/ 470718 w 2342280"/>
              <a:gd name="connsiteY4" fmla="*/ 1131972 h 1259744"/>
              <a:gd name="connsiteX5" fmla="*/ 461534 w 2342280"/>
              <a:gd name="connsiteY5" fmla="*/ 1137146 h 1259744"/>
              <a:gd name="connsiteX6" fmla="*/ 0 w 2342280"/>
              <a:gd name="connsiteY6" fmla="*/ 220132 h 1259744"/>
              <a:gd name="connsiteX7" fmla="*/ 300947 w 2342280"/>
              <a:gd name="connsiteY7" fmla="*/ 97195 h 1259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42280" h="1259744">
                <a:moveTo>
                  <a:pt x="300947" y="97195"/>
                </a:moveTo>
                <a:cubicBezTo>
                  <a:pt x="1016214" y="-131140"/>
                  <a:pt x="1807098" y="47703"/>
                  <a:pt x="2342280" y="582472"/>
                </a:cubicBezTo>
                <a:lnTo>
                  <a:pt x="1651027" y="1259744"/>
                </a:lnTo>
                <a:lnTo>
                  <a:pt x="1616664" y="1229094"/>
                </a:lnTo>
                <a:cubicBezTo>
                  <a:pt x="1313420" y="985708"/>
                  <a:pt x="864215" y="933924"/>
                  <a:pt x="470718" y="1131972"/>
                </a:cubicBezTo>
                <a:lnTo>
                  <a:pt x="461534" y="1137146"/>
                </a:lnTo>
                <a:lnTo>
                  <a:pt x="0" y="220132"/>
                </a:lnTo>
                <a:cubicBezTo>
                  <a:pt x="98128" y="170744"/>
                  <a:pt x="198767" y="129815"/>
                  <a:pt x="300947" y="97195"/>
                </a:cubicBezTo>
                <a:close/>
              </a:path>
            </a:pathLst>
          </a:custGeom>
          <a:ln>
            <a:solidFill>
              <a:srgbClr val="1A1A18"/>
            </a:solidFill>
          </a:ln>
        </p:spPr>
      </p:pic>
      <p:sp>
        <p:nvSpPr>
          <p:cNvPr id="2" name="Figura a mano libera: forma 1">
            <a:extLst>
              <a:ext uri="{FF2B5EF4-FFF2-40B4-BE49-F238E27FC236}">
                <a16:creationId xmlns:a16="http://schemas.microsoft.com/office/drawing/2014/main" id="{F11165E5-4BBC-D1F0-D409-EB4CBF892CA0}"/>
              </a:ext>
            </a:extLst>
          </p:cNvPr>
          <p:cNvSpPr/>
          <p:nvPr/>
        </p:nvSpPr>
        <p:spPr>
          <a:xfrm rot="14405249">
            <a:off x="-202811" y="2252191"/>
            <a:ext cx="2097301" cy="2257245"/>
          </a:xfrm>
          <a:custGeom>
            <a:avLst/>
            <a:gdLst>
              <a:gd name="connsiteX0" fmla="*/ 1112532 w 2215988"/>
              <a:gd name="connsiteY0" fmla="*/ 54878 h 2058934"/>
              <a:gd name="connsiteX1" fmla="*/ 71253 w 2215988"/>
              <a:gd name="connsiteY1" fmla="*/ 1020979 h 2058934"/>
              <a:gd name="connsiteX2" fmla="*/ 1112532 w 2215988"/>
              <a:gd name="connsiteY2" fmla="*/ 1987080 h 2058934"/>
              <a:gd name="connsiteX3" fmla="*/ 2153811 w 2215988"/>
              <a:gd name="connsiteY3" fmla="*/ 1020979 h 2058934"/>
              <a:gd name="connsiteX4" fmla="*/ 1112532 w 2215988"/>
              <a:gd name="connsiteY4" fmla="*/ 54878 h 2058934"/>
              <a:gd name="connsiteX5" fmla="*/ 1107994 w 2215988"/>
              <a:gd name="connsiteY5" fmla="*/ 0 h 2058934"/>
              <a:gd name="connsiteX6" fmla="*/ 2215988 w 2215988"/>
              <a:gd name="connsiteY6" fmla="*/ 1029467 h 2058934"/>
              <a:gd name="connsiteX7" fmla="*/ 1107994 w 2215988"/>
              <a:gd name="connsiteY7" fmla="*/ 2058934 h 2058934"/>
              <a:gd name="connsiteX8" fmla="*/ 0 w 2215988"/>
              <a:gd name="connsiteY8" fmla="*/ 1029467 h 2058934"/>
              <a:gd name="connsiteX9" fmla="*/ 1107994 w 2215988"/>
              <a:gd name="connsiteY9" fmla="*/ 0 h 2058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15988" h="2058934">
                <a:moveTo>
                  <a:pt x="1112532" y="54878"/>
                </a:moveTo>
                <a:cubicBezTo>
                  <a:pt x="537449" y="54878"/>
                  <a:pt x="71253" y="487416"/>
                  <a:pt x="71253" y="1020979"/>
                </a:cubicBezTo>
                <a:cubicBezTo>
                  <a:pt x="71253" y="1554542"/>
                  <a:pt x="537449" y="1987080"/>
                  <a:pt x="1112532" y="1987080"/>
                </a:cubicBezTo>
                <a:cubicBezTo>
                  <a:pt x="1687615" y="1987080"/>
                  <a:pt x="2153811" y="1554542"/>
                  <a:pt x="2153811" y="1020979"/>
                </a:cubicBezTo>
                <a:cubicBezTo>
                  <a:pt x="2153811" y="487416"/>
                  <a:pt x="1687615" y="54878"/>
                  <a:pt x="1112532" y="54878"/>
                </a:cubicBezTo>
                <a:close/>
                <a:moveTo>
                  <a:pt x="1107994" y="0"/>
                </a:moveTo>
                <a:cubicBezTo>
                  <a:pt x="1719922" y="0"/>
                  <a:pt x="2215988" y="460908"/>
                  <a:pt x="2215988" y="1029467"/>
                </a:cubicBezTo>
                <a:cubicBezTo>
                  <a:pt x="2215988" y="1598026"/>
                  <a:pt x="1719922" y="2058934"/>
                  <a:pt x="1107994" y="2058934"/>
                </a:cubicBezTo>
                <a:cubicBezTo>
                  <a:pt x="496066" y="2058934"/>
                  <a:pt x="0" y="1598026"/>
                  <a:pt x="0" y="1029467"/>
                </a:cubicBezTo>
                <a:cubicBezTo>
                  <a:pt x="0" y="460908"/>
                  <a:pt x="496066" y="0"/>
                  <a:pt x="1107994" y="0"/>
                </a:cubicBezTo>
                <a:close/>
              </a:path>
            </a:pathLst>
          </a:custGeom>
          <a:solidFill>
            <a:srgbClr val="CC190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1E0A4385-E61C-1236-5571-3C8A4967A4E7}"/>
              </a:ext>
            </a:extLst>
          </p:cNvPr>
          <p:cNvSpPr/>
          <p:nvPr/>
        </p:nvSpPr>
        <p:spPr>
          <a:xfrm>
            <a:off x="10314105" y="171698"/>
            <a:ext cx="1651413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ln/>
                <a:solidFill>
                  <a:srgbClr val="C00000"/>
                </a:solidFill>
                <a:latin typeface="Book Antiqua" panose="02040602050305030304" pitchFamily="18" charset="0"/>
              </a:rPr>
              <a:t>Vision-Guided </a:t>
            </a:r>
          </a:p>
          <a:p>
            <a:pPr algn="ctr"/>
            <a:r>
              <a:rPr lang="en-US" sz="1400" b="1" dirty="0">
                <a:ln/>
                <a:solidFill>
                  <a:srgbClr val="C00000"/>
                </a:solidFill>
                <a:latin typeface="Book Antiqua" panose="02040602050305030304" pitchFamily="18" charset="0"/>
              </a:rPr>
              <a:t>Pick-and-Place</a:t>
            </a:r>
            <a:endParaRPr lang="it-IT" sz="1600" b="1" dirty="0">
              <a:ln/>
              <a:solidFill>
                <a:srgbClr val="C00000"/>
              </a:solidFill>
            </a:endParaRP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6F33872C-57C9-BFEA-9A27-FDB2188FD1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1269" y="3097954"/>
            <a:ext cx="5573674" cy="371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567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DA8D8-7846-A1B2-BE82-B2BD6E764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9850AB1E-E5F0-A99C-A8FF-4E0E3ACC0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858" y="3141666"/>
            <a:ext cx="5217086" cy="3478057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5E0AC56B-BFDC-9922-1B0B-8AFF6C5383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84" y="2415440"/>
            <a:ext cx="1891944" cy="1771748"/>
          </a:xfrm>
          <a:prstGeom prst="rect">
            <a:avLst/>
          </a:prstGeom>
        </p:spPr>
      </p:pic>
      <p:grpSp>
        <p:nvGrpSpPr>
          <p:cNvPr id="20" name="Gruppo 19">
            <a:extLst>
              <a:ext uri="{FF2B5EF4-FFF2-40B4-BE49-F238E27FC236}">
                <a16:creationId xmlns:a16="http://schemas.microsoft.com/office/drawing/2014/main" id="{2265C193-5FF8-F49C-E4B9-984196BFD1F1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</p:grpSpPr>
        <p:sp>
          <p:nvSpPr>
            <p:cNvPr id="21" name="Rettangolo 20">
              <a:extLst>
                <a:ext uri="{FF2B5EF4-FFF2-40B4-BE49-F238E27FC236}">
                  <a16:creationId xmlns:a16="http://schemas.microsoft.com/office/drawing/2014/main" id="{F98E8E36-262A-D9CB-FB28-102E975F8CB1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solidFill>
              <a:srgbClr val="CC1906"/>
            </a:solidFill>
            <a:ln>
              <a:solidFill>
                <a:srgbClr val="CC190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2" name="Rettangolo 21">
              <a:extLst>
                <a:ext uri="{FF2B5EF4-FFF2-40B4-BE49-F238E27FC236}">
                  <a16:creationId xmlns:a16="http://schemas.microsoft.com/office/drawing/2014/main" id="{6FC90A2E-C259-9112-430F-140DABA08E96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solidFill>
              <a:srgbClr val="CC1906"/>
            </a:solidFill>
            <a:ln>
              <a:solidFill>
                <a:srgbClr val="CC190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48DCABB2-8757-B9D9-66F9-FCE642641089}"/>
              </a:ext>
            </a:extLst>
          </p:cNvPr>
          <p:cNvSpPr txBox="1"/>
          <p:nvPr/>
        </p:nvSpPr>
        <p:spPr>
          <a:xfrm>
            <a:off x="3609311" y="908148"/>
            <a:ext cx="6084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it-IT" sz="2400" b="1" u="sng" dirty="0">
                <a:solidFill>
                  <a:srgbClr val="C00000"/>
                </a:solidFill>
                <a:latin typeface="Book Antiqua" panose="02040602050305030304" pitchFamily="18" charset="0"/>
              </a:rPr>
              <a:t>Motion Package:</a:t>
            </a:r>
            <a:endParaRPr lang="en-US" sz="1800" b="1" u="sng" dirty="0">
              <a:latin typeface="Book Antiqua" panose="02040602050305030304" pitchFamily="18" charset="0"/>
            </a:endParaRP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B86CA38A-5BD9-D392-6C99-3BF6838A76EF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</a:t>
            </a:r>
            <a:r>
              <a:rPr lang="it-IT" sz="1200" dirty="0" err="1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Nivriti</a:t>
            </a:r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it-IT" sz="1200" dirty="0" err="1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Raisingh</a:t>
            </a:r>
            <a:endParaRPr lang="it-IT" sz="1200" dirty="0">
              <a:solidFill>
                <a:schemeClr val="bg1">
                  <a:lumMod val="65000"/>
                </a:schemeClr>
              </a:solidFill>
              <a:latin typeface="Book Antiqua" panose="02040602050305030304" pitchFamily="18" charset="0"/>
            </a:endParaRPr>
          </a:p>
        </p:txBody>
      </p:sp>
      <p:cxnSp>
        <p:nvCxnSpPr>
          <p:cNvPr id="36" name="Connettore diritto 35">
            <a:extLst>
              <a:ext uri="{FF2B5EF4-FFF2-40B4-BE49-F238E27FC236}">
                <a16:creationId xmlns:a16="http://schemas.microsoft.com/office/drawing/2014/main" id="{476B444C-C7B9-7E23-DA60-DD6EDDFA3B28}"/>
              </a:ext>
            </a:extLst>
          </p:cNvPr>
          <p:cNvCxnSpPr>
            <a:cxnSpLocks/>
          </p:cNvCxnSpPr>
          <p:nvPr/>
        </p:nvCxnSpPr>
        <p:spPr>
          <a:xfrm flipV="1">
            <a:off x="2708476" y="1276350"/>
            <a:ext cx="987224" cy="696776"/>
          </a:xfrm>
          <a:prstGeom prst="line">
            <a:avLst/>
          </a:prstGeom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Immagine 42">
            <a:extLst>
              <a:ext uri="{FF2B5EF4-FFF2-40B4-BE49-F238E27FC236}">
                <a16:creationId xmlns:a16="http://schemas.microsoft.com/office/drawing/2014/main" id="{0BBD96DE-2D2C-5895-9426-D6AC42DD19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463" b="12463"/>
          <a:stretch/>
        </p:blipFill>
        <p:spPr>
          <a:xfrm rot="2932059">
            <a:off x="838495" y="1697346"/>
            <a:ext cx="2522113" cy="1262291"/>
          </a:xfrm>
          <a:custGeom>
            <a:avLst/>
            <a:gdLst>
              <a:gd name="connsiteX0" fmla="*/ 2367923 w 2367923"/>
              <a:gd name="connsiteY0" fmla="*/ 332861 h 1193566"/>
              <a:gd name="connsiteX1" fmla="*/ 1808313 w 2367923"/>
              <a:gd name="connsiteY1" fmla="*/ 1193566 h 1193566"/>
              <a:gd name="connsiteX2" fmla="*/ 1799347 w 2367923"/>
              <a:gd name="connsiteY2" fmla="*/ 1187120 h 1193566"/>
              <a:gd name="connsiteX3" fmla="*/ 649671 w 2367923"/>
              <a:gd name="connsiteY3" fmla="*/ 1157610 h 1193566"/>
              <a:gd name="connsiteX4" fmla="*/ 612271 w 2367923"/>
              <a:gd name="connsiteY4" fmla="*/ 1184206 h 1193566"/>
              <a:gd name="connsiteX5" fmla="*/ 0 w 2367923"/>
              <a:gd name="connsiteY5" fmla="*/ 435374 h 1193566"/>
              <a:gd name="connsiteX6" fmla="*/ 2367923 w 2367923"/>
              <a:gd name="connsiteY6" fmla="*/ 332861 h 1193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67923" h="1193566">
                <a:moveTo>
                  <a:pt x="2367923" y="332861"/>
                </a:moveTo>
                <a:lnTo>
                  <a:pt x="1808313" y="1193566"/>
                </a:lnTo>
                <a:lnTo>
                  <a:pt x="1799347" y="1187120"/>
                </a:lnTo>
                <a:cubicBezTo>
                  <a:pt x="1430021" y="946993"/>
                  <a:pt x="977846" y="949055"/>
                  <a:pt x="649671" y="1157610"/>
                </a:cubicBezTo>
                <a:lnTo>
                  <a:pt x="612271" y="1184206"/>
                </a:lnTo>
                <a:lnTo>
                  <a:pt x="0" y="435374"/>
                </a:lnTo>
                <a:cubicBezTo>
                  <a:pt x="675149" y="-104807"/>
                  <a:pt x="1631115" y="-146193"/>
                  <a:pt x="2367923" y="332861"/>
                </a:cubicBezTo>
                <a:close/>
              </a:path>
            </a:pathLst>
          </a:custGeom>
          <a:ln>
            <a:solidFill>
              <a:srgbClr val="1A1A18"/>
            </a:solidFill>
          </a:ln>
        </p:spPr>
      </p:pic>
      <p:pic>
        <p:nvPicPr>
          <p:cNvPr id="45" name="Immagine 44">
            <a:extLst>
              <a:ext uri="{FF2B5EF4-FFF2-40B4-BE49-F238E27FC236}">
                <a16:creationId xmlns:a16="http://schemas.microsoft.com/office/drawing/2014/main" id="{984D14BC-0570-6A99-0E2E-927F81BA09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67" b="13567"/>
          <a:stretch/>
        </p:blipFill>
        <p:spPr>
          <a:xfrm rot="15717064">
            <a:off x="-1759981" y="3029669"/>
            <a:ext cx="2540073" cy="1240001"/>
          </a:xfrm>
          <a:custGeom>
            <a:avLst/>
            <a:gdLst>
              <a:gd name="connsiteX0" fmla="*/ 586199 w 2384784"/>
              <a:gd name="connsiteY0" fmla="*/ 1172490 h 1172490"/>
              <a:gd name="connsiteX1" fmla="*/ 0 w 2384784"/>
              <a:gd name="connsiteY1" fmla="*/ 381598 h 1172490"/>
              <a:gd name="connsiteX2" fmla="*/ 2384784 w 2384784"/>
              <a:gd name="connsiteY2" fmla="*/ 379414 h 1172490"/>
              <a:gd name="connsiteX3" fmla="*/ 1807502 w 2384784"/>
              <a:gd name="connsiteY3" fmla="*/ 1161265 h 1172490"/>
              <a:gd name="connsiteX4" fmla="*/ 1798759 w 2384784"/>
              <a:gd name="connsiteY4" fmla="*/ 1155218 h 1172490"/>
              <a:gd name="connsiteX5" fmla="*/ 1203979 w 2384784"/>
              <a:gd name="connsiteY5" fmla="*/ 987444 h 1172490"/>
              <a:gd name="connsiteX6" fmla="*/ 609506 w 2384784"/>
              <a:gd name="connsiteY6" fmla="*/ 1156308 h 1172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84784" h="1172490">
                <a:moveTo>
                  <a:pt x="586199" y="1172490"/>
                </a:moveTo>
                <a:lnTo>
                  <a:pt x="0" y="381598"/>
                </a:lnTo>
                <a:cubicBezTo>
                  <a:pt x="710541" y="-126393"/>
                  <a:pt x="1673315" y="-127274"/>
                  <a:pt x="2384784" y="379414"/>
                </a:cubicBezTo>
                <a:lnTo>
                  <a:pt x="1807502" y="1161265"/>
                </a:lnTo>
                <a:lnTo>
                  <a:pt x="1798759" y="1155218"/>
                </a:lnTo>
                <a:cubicBezTo>
                  <a:pt x="1628922" y="1049106"/>
                  <a:pt x="1424242" y="987242"/>
                  <a:pt x="1203979" y="987444"/>
                </a:cubicBezTo>
                <a:cubicBezTo>
                  <a:pt x="983716" y="987646"/>
                  <a:pt x="779148" y="1049884"/>
                  <a:pt x="609506" y="1156308"/>
                </a:cubicBezTo>
                <a:close/>
              </a:path>
            </a:pathLst>
          </a:custGeom>
          <a:ln>
            <a:solidFill>
              <a:srgbClr val="1A1A18"/>
            </a:solidFill>
          </a:ln>
        </p:spPr>
      </p:pic>
      <p:pic>
        <p:nvPicPr>
          <p:cNvPr id="46" name="Immagine 45">
            <a:extLst>
              <a:ext uri="{FF2B5EF4-FFF2-40B4-BE49-F238E27FC236}">
                <a16:creationId xmlns:a16="http://schemas.microsoft.com/office/drawing/2014/main" id="{B00ED0CD-31B2-04F3-CC1F-D4133617635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408" b="11408"/>
          <a:stretch/>
        </p:blipFill>
        <p:spPr>
          <a:xfrm rot="19896864">
            <a:off x="-906078" y="1377587"/>
            <a:ext cx="2503266" cy="1288091"/>
          </a:xfrm>
          <a:custGeom>
            <a:avLst/>
            <a:gdLst>
              <a:gd name="connsiteX0" fmla="*/ 2366977 w 2366977"/>
              <a:gd name="connsiteY0" fmla="*/ 431378 h 1209343"/>
              <a:gd name="connsiteX1" fmla="*/ 1763350 w 2366977"/>
              <a:gd name="connsiteY1" fmla="*/ 1209343 h 1209343"/>
              <a:gd name="connsiteX2" fmla="*/ 1724760 w 2366977"/>
              <a:gd name="connsiteY2" fmla="*/ 1174543 h 1209343"/>
              <a:gd name="connsiteX3" fmla="*/ 1464476 w 2366977"/>
              <a:gd name="connsiteY3" fmla="*/ 1026400 h 1209343"/>
              <a:gd name="connsiteX4" fmla="*/ 608514 w 2366977"/>
              <a:gd name="connsiteY4" fmla="*/ 1130480 h 1209343"/>
              <a:gd name="connsiteX5" fmla="*/ 534746 w 2366977"/>
              <a:gd name="connsiteY5" fmla="*/ 1182668 h 1209343"/>
              <a:gd name="connsiteX6" fmla="*/ 0 w 2366977"/>
              <a:gd name="connsiteY6" fmla="*/ 357120 h 1209343"/>
              <a:gd name="connsiteX7" fmla="*/ 2366977 w 2366977"/>
              <a:gd name="connsiteY7" fmla="*/ 431378 h 12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66977" h="1209343">
                <a:moveTo>
                  <a:pt x="2366977" y="431378"/>
                </a:moveTo>
                <a:lnTo>
                  <a:pt x="1763350" y="1209343"/>
                </a:lnTo>
                <a:lnTo>
                  <a:pt x="1724760" y="1174543"/>
                </a:lnTo>
                <a:cubicBezTo>
                  <a:pt x="1648178" y="1112481"/>
                  <a:pt x="1560997" y="1062074"/>
                  <a:pt x="1464476" y="1026400"/>
                </a:cubicBezTo>
                <a:cubicBezTo>
                  <a:pt x="1174914" y="919378"/>
                  <a:pt x="862969" y="967752"/>
                  <a:pt x="608514" y="1130480"/>
                </a:cubicBezTo>
                <a:lnTo>
                  <a:pt x="534746" y="1182668"/>
                </a:lnTo>
                <a:lnTo>
                  <a:pt x="0" y="357120"/>
                </a:lnTo>
                <a:cubicBezTo>
                  <a:pt x="730979" y="-145110"/>
                  <a:pt x="1686563" y="-115132"/>
                  <a:pt x="2366977" y="431378"/>
                </a:cubicBezTo>
                <a:close/>
              </a:path>
            </a:pathLst>
          </a:custGeom>
          <a:ln>
            <a:solidFill>
              <a:srgbClr val="1A1A18"/>
            </a:solidFill>
          </a:ln>
        </p:spPr>
      </p:pic>
      <p:pic>
        <p:nvPicPr>
          <p:cNvPr id="47" name="Immagine 46">
            <a:extLst>
              <a:ext uri="{FF2B5EF4-FFF2-40B4-BE49-F238E27FC236}">
                <a16:creationId xmlns:a16="http://schemas.microsoft.com/office/drawing/2014/main" id="{86D8F35E-9B43-F1B6-25B5-2FB4F5D7EA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58" b="7758"/>
          <a:stretch/>
        </p:blipFill>
        <p:spPr>
          <a:xfrm rot="11568316">
            <a:off x="-462003" y="4316126"/>
            <a:ext cx="2478790" cy="1292408"/>
          </a:xfrm>
          <a:custGeom>
            <a:avLst/>
            <a:gdLst>
              <a:gd name="connsiteX0" fmla="*/ 0 w 2343834"/>
              <a:gd name="connsiteY0" fmla="*/ 441432 h 1213396"/>
              <a:gd name="connsiteX1" fmla="*/ 2343834 w 2343834"/>
              <a:gd name="connsiteY1" fmla="*/ 334972 h 1213396"/>
              <a:gd name="connsiteX2" fmla="*/ 1813435 w 2343834"/>
              <a:gd name="connsiteY2" fmla="*/ 1164320 h 1213396"/>
              <a:gd name="connsiteX3" fmla="*/ 1754638 w 2343834"/>
              <a:gd name="connsiteY3" fmla="*/ 1124102 h 1213396"/>
              <a:gd name="connsiteX4" fmla="*/ 906090 w 2343834"/>
              <a:gd name="connsiteY4" fmla="*/ 1033944 h 1213396"/>
              <a:gd name="connsiteX5" fmla="*/ 649372 w 2343834"/>
              <a:gd name="connsiteY5" fmla="*/ 1183193 h 1213396"/>
              <a:gd name="connsiteX6" fmla="*/ 616363 w 2343834"/>
              <a:gd name="connsiteY6" fmla="*/ 1213396 h 121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43834" h="1213396">
                <a:moveTo>
                  <a:pt x="0" y="441432"/>
                </a:moveTo>
                <a:cubicBezTo>
                  <a:pt x="669935" y="-105201"/>
                  <a:pt x="1616176" y="-148180"/>
                  <a:pt x="2343834" y="334972"/>
                </a:cubicBezTo>
                <a:lnTo>
                  <a:pt x="1813435" y="1164320"/>
                </a:lnTo>
                <a:lnTo>
                  <a:pt x="1754638" y="1124102"/>
                </a:lnTo>
                <a:cubicBezTo>
                  <a:pt x="1501427" y="967804"/>
                  <a:pt x="1192108" y="924686"/>
                  <a:pt x="906090" y="1033944"/>
                </a:cubicBezTo>
                <a:cubicBezTo>
                  <a:pt x="810752" y="1070363"/>
                  <a:pt x="724770" y="1121127"/>
                  <a:pt x="649372" y="1183193"/>
                </a:cubicBezTo>
                <a:lnTo>
                  <a:pt x="616363" y="1213396"/>
                </a:lnTo>
                <a:close/>
              </a:path>
            </a:pathLst>
          </a:custGeom>
          <a:ln>
            <a:solidFill>
              <a:srgbClr val="1A1A18"/>
            </a:solidFill>
          </a:ln>
        </p:spPr>
      </p:pic>
      <p:pic>
        <p:nvPicPr>
          <p:cNvPr id="48" name="Immagine 47">
            <a:extLst>
              <a:ext uri="{FF2B5EF4-FFF2-40B4-BE49-F238E27FC236}">
                <a16:creationId xmlns:a16="http://schemas.microsoft.com/office/drawing/2014/main" id="{25DF20FB-CA8E-F681-EC9D-E7DB8D6C8A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2" r="2662"/>
          <a:stretch/>
        </p:blipFill>
        <p:spPr>
          <a:xfrm rot="6516887">
            <a:off x="1087854" y="3525581"/>
            <a:ext cx="2494801" cy="1332279"/>
          </a:xfrm>
          <a:custGeom>
            <a:avLst/>
            <a:gdLst>
              <a:gd name="connsiteX0" fmla="*/ 300947 w 2342280"/>
              <a:gd name="connsiteY0" fmla="*/ 97195 h 1259744"/>
              <a:gd name="connsiteX1" fmla="*/ 2342280 w 2342280"/>
              <a:gd name="connsiteY1" fmla="*/ 582472 h 1259744"/>
              <a:gd name="connsiteX2" fmla="*/ 1651027 w 2342280"/>
              <a:gd name="connsiteY2" fmla="*/ 1259744 h 1259744"/>
              <a:gd name="connsiteX3" fmla="*/ 1616664 w 2342280"/>
              <a:gd name="connsiteY3" fmla="*/ 1229094 h 1259744"/>
              <a:gd name="connsiteX4" fmla="*/ 470718 w 2342280"/>
              <a:gd name="connsiteY4" fmla="*/ 1131972 h 1259744"/>
              <a:gd name="connsiteX5" fmla="*/ 461534 w 2342280"/>
              <a:gd name="connsiteY5" fmla="*/ 1137146 h 1259744"/>
              <a:gd name="connsiteX6" fmla="*/ 0 w 2342280"/>
              <a:gd name="connsiteY6" fmla="*/ 220132 h 1259744"/>
              <a:gd name="connsiteX7" fmla="*/ 300947 w 2342280"/>
              <a:gd name="connsiteY7" fmla="*/ 97195 h 1259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42280" h="1259744">
                <a:moveTo>
                  <a:pt x="300947" y="97195"/>
                </a:moveTo>
                <a:cubicBezTo>
                  <a:pt x="1016214" y="-131140"/>
                  <a:pt x="1807098" y="47703"/>
                  <a:pt x="2342280" y="582472"/>
                </a:cubicBezTo>
                <a:lnTo>
                  <a:pt x="1651027" y="1259744"/>
                </a:lnTo>
                <a:lnTo>
                  <a:pt x="1616664" y="1229094"/>
                </a:lnTo>
                <a:cubicBezTo>
                  <a:pt x="1313420" y="985708"/>
                  <a:pt x="864215" y="933924"/>
                  <a:pt x="470718" y="1131972"/>
                </a:cubicBezTo>
                <a:lnTo>
                  <a:pt x="461534" y="1137146"/>
                </a:lnTo>
                <a:lnTo>
                  <a:pt x="0" y="220132"/>
                </a:lnTo>
                <a:cubicBezTo>
                  <a:pt x="98128" y="170744"/>
                  <a:pt x="198767" y="129815"/>
                  <a:pt x="300947" y="97195"/>
                </a:cubicBezTo>
                <a:close/>
              </a:path>
            </a:pathLst>
          </a:custGeom>
          <a:ln>
            <a:solidFill>
              <a:srgbClr val="1A1A18"/>
            </a:solidFill>
          </a:ln>
        </p:spPr>
      </p:pic>
      <p:sp>
        <p:nvSpPr>
          <p:cNvPr id="2" name="Figura a mano libera: forma 1">
            <a:extLst>
              <a:ext uri="{FF2B5EF4-FFF2-40B4-BE49-F238E27FC236}">
                <a16:creationId xmlns:a16="http://schemas.microsoft.com/office/drawing/2014/main" id="{45A48DEA-9F4C-EFB2-5F4A-06F3A4DA6CBA}"/>
              </a:ext>
            </a:extLst>
          </p:cNvPr>
          <p:cNvSpPr/>
          <p:nvPr/>
        </p:nvSpPr>
        <p:spPr>
          <a:xfrm>
            <a:off x="-56559" y="2290712"/>
            <a:ext cx="2097301" cy="2257245"/>
          </a:xfrm>
          <a:custGeom>
            <a:avLst/>
            <a:gdLst>
              <a:gd name="connsiteX0" fmla="*/ 1112532 w 2215988"/>
              <a:gd name="connsiteY0" fmla="*/ 54878 h 2058934"/>
              <a:gd name="connsiteX1" fmla="*/ 71253 w 2215988"/>
              <a:gd name="connsiteY1" fmla="*/ 1020979 h 2058934"/>
              <a:gd name="connsiteX2" fmla="*/ 1112532 w 2215988"/>
              <a:gd name="connsiteY2" fmla="*/ 1987080 h 2058934"/>
              <a:gd name="connsiteX3" fmla="*/ 2153811 w 2215988"/>
              <a:gd name="connsiteY3" fmla="*/ 1020979 h 2058934"/>
              <a:gd name="connsiteX4" fmla="*/ 1112532 w 2215988"/>
              <a:gd name="connsiteY4" fmla="*/ 54878 h 2058934"/>
              <a:gd name="connsiteX5" fmla="*/ 1107994 w 2215988"/>
              <a:gd name="connsiteY5" fmla="*/ 0 h 2058934"/>
              <a:gd name="connsiteX6" fmla="*/ 2215988 w 2215988"/>
              <a:gd name="connsiteY6" fmla="*/ 1029467 h 2058934"/>
              <a:gd name="connsiteX7" fmla="*/ 1107994 w 2215988"/>
              <a:gd name="connsiteY7" fmla="*/ 2058934 h 2058934"/>
              <a:gd name="connsiteX8" fmla="*/ 0 w 2215988"/>
              <a:gd name="connsiteY8" fmla="*/ 1029467 h 2058934"/>
              <a:gd name="connsiteX9" fmla="*/ 1107994 w 2215988"/>
              <a:gd name="connsiteY9" fmla="*/ 0 h 2058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15988" h="2058934">
                <a:moveTo>
                  <a:pt x="1112532" y="54878"/>
                </a:moveTo>
                <a:cubicBezTo>
                  <a:pt x="537449" y="54878"/>
                  <a:pt x="71253" y="487416"/>
                  <a:pt x="71253" y="1020979"/>
                </a:cubicBezTo>
                <a:cubicBezTo>
                  <a:pt x="71253" y="1554542"/>
                  <a:pt x="537449" y="1987080"/>
                  <a:pt x="1112532" y="1987080"/>
                </a:cubicBezTo>
                <a:cubicBezTo>
                  <a:pt x="1687615" y="1987080"/>
                  <a:pt x="2153811" y="1554542"/>
                  <a:pt x="2153811" y="1020979"/>
                </a:cubicBezTo>
                <a:cubicBezTo>
                  <a:pt x="2153811" y="487416"/>
                  <a:pt x="1687615" y="54878"/>
                  <a:pt x="1112532" y="54878"/>
                </a:cubicBezTo>
                <a:close/>
                <a:moveTo>
                  <a:pt x="1107994" y="0"/>
                </a:moveTo>
                <a:cubicBezTo>
                  <a:pt x="1719922" y="0"/>
                  <a:pt x="2215988" y="460908"/>
                  <a:pt x="2215988" y="1029467"/>
                </a:cubicBezTo>
                <a:cubicBezTo>
                  <a:pt x="2215988" y="1598026"/>
                  <a:pt x="1719922" y="2058934"/>
                  <a:pt x="1107994" y="2058934"/>
                </a:cubicBezTo>
                <a:cubicBezTo>
                  <a:pt x="496066" y="2058934"/>
                  <a:pt x="0" y="1598026"/>
                  <a:pt x="0" y="1029467"/>
                </a:cubicBezTo>
                <a:cubicBezTo>
                  <a:pt x="0" y="460908"/>
                  <a:pt x="496066" y="0"/>
                  <a:pt x="1107994" y="0"/>
                </a:cubicBezTo>
                <a:close/>
              </a:path>
            </a:pathLst>
          </a:custGeom>
          <a:solidFill>
            <a:srgbClr val="CC190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65CC84CC-6716-2694-84FA-707AF96F1177}"/>
              </a:ext>
            </a:extLst>
          </p:cNvPr>
          <p:cNvSpPr/>
          <p:nvPr/>
        </p:nvSpPr>
        <p:spPr>
          <a:xfrm>
            <a:off x="10314105" y="171698"/>
            <a:ext cx="1651413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ln/>
                <a:solidFill>
                  <a:srgbClr val="C00000"/>
                </a:solidFill>
                <a:latin typeface="Book Antiqua" panose="02040602050305030304" pitchFamily="18" charset="0"/>
              </a:rPr>
              <a:t>Vision-Guided </a:t>
            </a:r>
          </a:p>
          <a:p>
            <a:pPr algn="ctr"/>
            <a:r>
              <a:rPr lang="en-US" sz="1400" b="1" dirty="0">
                <a:ln/>
                <a:solidFill>
                  <a:srgbClr val="C00000"/>
                </a:solidFill>
                <a:latin typeface="Book Antiqua" panose="02040602050305030304" pitchFamily="18" charset="0"/>
              </a:rPr>
              <a:t>Pick-and-Place</a:t>
            </a:r>
            <a:endParaRPr lang="it-IT" sz="1600" b="1" dirty="0">
              <a:ln/>
              <a:solidFill>
                <a:srgbClr val="C00000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316EBFD-20B3-C964-F194-CCDD185EE2F9}"/>
              </a:ext>
            </a:extLst>
          </p:cNvPr>
          <p:cNvSpPr txBox="1"/>
          <p:nvPr/>
        </p:nvSpPr>
        <p:spPr>
          <a:xfrm>
            <a:off x="4151994" y="1329147"/>
            <a:ext cx="692713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Book Antiqua" panose="02040602050305030304" pitchFamily="18" charset="0"/>
              </a:rPr>
              <a:t>Path Builder:</a:t>
            </a:r>
            <a:r>
              <a:rPr lang="en-US" sz="1600" dirty="0">
                <a:latin typeface="Book Antiqua" panose="02040602050305030304" pitchFamily="18" charset="0"/>
              </a:rPr>
              <a:t> SLERP turns each start/goal pair into 101 Cartesian waypoints, publishing a </a:t>
            </a:r>
            <a:r>
              <a:rPr lang="en-US" sz="1600" dirty="0" err="1">
                <a:latin typeface="Book Antiqua" panose="02040602050305030304" pitchFamily="18" charset="0"/>
              </a:rPr>
              <a:t>PoseArray</a:t>
            </a:r>
            <a:r>
              <a:rPr lang="en-US" sz="1600" dirty="0">
                <a:latin typeface="Book Antiqua" panose="0204060205030503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Book Antiqua" panose="02040602050305030304" pitchFamily="18" charset="0"/>
              </a:rPr>
              <a:t>Trajectory Generator:</a:t>
            </a:r>
            <a:r>
              <a:rPr lang="en-US" sz="1600" dirty="0">
                <a:latin typeface="Book Antiqua" panose="02040602050305030304" pitchFamily="18" charset="0"/>
              </a:rPr>
              <a:t> </a:t>
            </a:r>
            <a:r>
              <a:rPr lang="en-US" sz="1600" dirty="0" err="1">
                <a:latin typeface="Book Antiqua" panose="02040602050305030304" pitchFamily="18" charset="0"/>
              </a:rPr>
              <a:t>vectorised</a:t>
            </a:r>
            <a:r>
              <a:rPr lang="en-US" sz="1600" dirty="0">
                <a:latin typeface="Book Antiqua" panose="02040602050305030304" pitchFamily="18" charset="0"/>
              </a:rPr>
              <a:t> IK + cubic timing pick the smoothest UR5 joint path, yielding a </a:t>
            </a:r>
            <a:r>
              <a:rPr lang="en-US" sz="1600" dirty="0" err="1">
                <a:latin typeface="Book Antiqua" panose="02040602050305030304" pitchFamily="18" charset="0"/>
              </a:rPr>
              <a:t>JointTrajectory</a:t>
            </a:r>
            <a:endParaRPr lang="en-US" sz="1600" dirty="0">
              <a:latin typeface="Book Antiqua" panose="0204060205030503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Book Antiqua" panose="02040602050305030304" pitchFamily="18" charset="0"/>
              </a:rPr>
              <a:t>Kinematics Services:</a:t>
            </a:r>
            <a:r>
              <a:rPr lang="en-US" sz="1600" dirty="0">
                <a:latin typeface="Book Antiqua" panose="02040602050305030304" pitchFamily="18" charset="0"/>
              </a:rPr>
              <a:t> on-demand FK/IK and singularity checks keep solutions valid.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Book Antiqua" panose="02040602050305030304" pitchFamily="18" charset="0"/>
              </a:rPr>
              <a:t>Safety Watchdog:</a:t>
            </a:r>
            <a:r>
              <a:rPr lang="en-US" sz="1600" dirty="0">
                <a:latin typeface="Book Antiqua" panose="02040602050305030304" pitchFamily="18" charset="0"/>
              </a:rPr>
              <a:t> 100 Hz height check shuts down motion if the tool descends below the table..</a:t>
            </a:r>
          </a:p>
        </p:txBody>
      </p:sp>
    </p:spTree>
    <p:extLst>
      <p:ext uri="{BB962C8B-B14F-4D97-AF65-F5344CB8AC3E}">
        <p14:creationId xmlns:p14="http://schemas.microsoft.com/office/powerpoint/2010/main" val="1569158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0DD98-26CA-0493-E9BA-753CEF219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D2665059-A26F-A3F4-C73F-00C47D9C9E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84" y="2415440"/>
            <a:ext cx="1891944" cy="1771748"/>
          </a:xfrm>
          <a:prstGeom prst="rect">
            <a:avLst/>
          </a:prstGeom>
        </p:spPr>
      </p:pic>
      <p:grpSp>
        <p:nvGrpSpPr>
          <p:cNvPr id="20" name="Gruppo 19">
            <a:extLst>
              <a:ext uri="{FF2B5EF4-FFF2-40B4-BE49-F238E27FC236}">
                <a16:creationId xmlns:a16="http://schemas.microsoft.com/office/drawing/2014/main" id="{0E50F859-1D41-F5D1-C4E5-4AA260B9C06A}"/>
              </a:ext>
            </a:extLst>
          </p:cNvPr>
          <p:cNvGrpSpPr/>
          <p:nvPr/>
        </p:nvGrpSpPr>
        <p:grpSpPr>
          <a:xfrm flipH="1" flipV="1">
            <a:off x="11215250" y="5474716"/>
            <a:ext cx="793161" cy="1186680"/>
            <a:chOff x="8448900" y="3789181"/>
            <a:chExt cx="793161" cy="1186680"/>
          </a:xfrm>
        </p:grpSpPr>
        <p:sp>
          <p:nvSpPr>
            <p:cNvPr id="21" name="Rettangolo 20">
              <a:extLst>
                <a:ext uri="{FF2B5EF4-FFF2-40B4-BE49-F238E27FC236}">
                  <a16:creationId xmlns:a16="http://schemas.microsoft.com/office/drawing/2014/main" id="{C91E4E7B-3A91-18DF-D03A-26E73475CCF0}"/>
                </a:ext>
              </a:extLst>
            </p:cNvPr>
            <p:cNvSpPr/>
            <p:nvPr/>
          </p:nvSpPr>
          <p:spPr>
            <a:xfrm flipH="1" flipV="1">
              <a:off x="8448901" y="3789183"/>
              <a:ext cx="85784" cy="1186678"/>
            </a:xfrm>
            <a:prstGeom prst="rect">
              <a:avLst/>
            </a:prstGeom>
            <a:solidFill>
              <a:srgbClr val="CC1906"/>
            </a:solidFill>
            <a:ln>
              <a:solidFill>
                <a:srgbClr val="CC190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2" name="Rettangolo 21">
              <a:extLst>
                <a:ext uri="{FF2B5EF4-FFF2-40B4-BE49-F238E27FC236}">
                  <a16:creationId xmlns:a16="http://schemas.microsoft.com/office/drawing/2014/main" id="{F2A94D48-8AB9-71C2-06C4-F7C82551A67B}"/>
                </a:ext>
              </a:extLst>
            </p:cNvPr>
            <p:cNvSpPr/>
            <p:nvPr/>
          </p:nvSpPr>
          <p:spPr>
            <a:xfrm rot="16200000" flipH="1" flipV="1">
              <a:off x="8803808" y="3434273"/>
              <a:ext cx="83345" cy="793161"/>
            </a:xfrm>
            <a:prstGeom prst="rect">
              <a:avLst/>
            </a:prstGeom>
            <a:solidFill>
              <a:srgbClr val="CC1906"/>
            </a:solidFill>
            <a:ln>
              <a:solidFill>
                <a:srgbClr val="CC190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19F7CBD4-3866-50E8-AE43-6827F9EF3903}"/>
              </a:ext>
            </a:extLst>
          </p:cNvPr>
          <p:cNvSpPr txBox="1"/>
          <p:nvPr/>
        </p:nvSpPr>
        <p:spPr>
          <a:xfrm>
            <a:off x="3609311" y="908148"/>
            <a:ext cx="6084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it-IT" sz="2400" b="1" u="sng" dirty="0" err="1">
                <a:solidFill>
                  <a:srgbClr val="C00000"/>
                </a:solidFill>
                <a:latin typeface="Book Antiqua" panose="02040602050305030304" pitchFamily="18" charset="0"/>
              </a:rPr>
              <a:t>Final</a:t>
            </a:r>
            <a:r>
              <a:rPr lang="it-IT" sz="2400" b="1" u="sng" dirty="0">
                <a:solidFill>
                  <a:srgbClr val="C00000"/>
                </a:solidFill>
                <a:latin typeface="Book Antiqua" panose="02040602050305030304" pitchFamily="18" charset="0"/>
              </a:rPr>
              <a:t> </a:t>
            </a:r>
            <a:r>
              <a:rPr lang="it-IT" sz="2400" b="1" u="sng" dirty="0" err="1">
                <a:solidFill>
                  <a:srgbClr val="C00000"/>
                </a:solidFill>
                <a:latin typeface="Book Antiqua" panose="02040602050305030304" pitchFamily="18" charset="0"/>
              </a:rPr>
              <a:t>Results</a:t>
            </a:r>
            <a:r>
              <a:rPr lang="it-IT" sz="2400" b="1" u="sng" dirty="0">
                <a:solidFill>
                  <a:srgbClr val="C00000"/>
                </a:solidFill>
                <a:latin typeface="Book Antiqua" panose="02040602050305030304" pitchFamily="18" charset="0"/>
              </a:rPr>
              <a:t>:</a:t>
            </a:r>
            <a:endParaRPr lang="en-US" sz="1800" b="1" u="sng" dirty="0">
              <a:latin typeface="Book Antiqua" panose="02040602050305030304" pitchFamily="18" charset="0"/>
            </a:endParaRP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AE79D1B0-C7EF-6633-3943-F7CC3BCBAF13}"/>
              </a:ext>
            </a:extLst>
          </p:cNvPr>
          <p:cNvSpPr txBox="1"/>
          <p:nvPr/>
        </p:nvSpPr>
        <p:spPr>
          <a:xfrm>
            <a:off x="4320313" y="1427481"/>
            <a:ext cx="74969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latin typeface="Book Antiqua" panose="02040602050305030304" pitchFamily="18" charset="0"/>
              </a:rPr>
              <a:t>Open issues:</a:t>
            </a:r>
            <a:r>
              <a:rPr lang="en-US" sz="1600" dirty="0">
                <a:latin typeface="Book Antiqua" panose="02040602050305030304" pitchFamily="18" charset="0"/>
              </a:rPr>
              <a:t> rare goal rejections from RViz simulated-time skew; fix by hardening clock sync and adopting minimum-jerk profiles for smoother paths.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AA37E369-F254-D319-D92F-E8063048B198}"/>
              </a:ext>
            </a:extLst>
          </p:cNvPr>
          <p:cNvSpPr txBox="1"/>
          <p:nvPr/>
        </p:nvSpPr>
        <p:spPr>
          <a:xfrm>
            <a:off x="-3348" y="6593400"/>
            <a:ext cx="8857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Sara Francavilla – </a:t>
            </a:r>
            <a:r>
              <a:rPr lang="it-IT" sz="1200" dirty="0" err="1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Nivriti</a:t>
            </a:r>
            <a:r>
              <a:rPr lang="it-IT" sz="1200" dirty="0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it-IT" sz="1200" dirty="0" err="1">
                <a:solidFill>
                  <a:schemeClr val="bg1">
                    <a:lumMod val="65000"/>
                  </a:schemeClr>
                </a:solidFill>
                <a:latin typeface="Book Antiqua" panose="02040602050305030304" pitchFamily="18" charset="0"/>
              </a:rPr>
              <a:t>Raisingh</a:t>
            </a:r>
            <a:endParaRPr lang="it-IT" sz="1200" dirty="0">
              <a:solidFill>
                <a:schemeClr val="bg1">
                  <a:lumMod val="65000"/>
                </a:schemeClr>
              </a:solidFill>
              <a:latin typeface="Book Antiqua" panose="02040602050305030304" pitchFamily="18" charset="0"/>
            </a:endParaRPr>
          </a:p>
        </p:txBody>
      </p:sp>
      <p:cxnSp>
        <p:nvCxnSpPr>
          <p:cNvPr id="36" name="Connettore diritto 35">
            <a:extLst>
              <a:ext uri="{FF2B5EF4-FFF2-40B4-BE49-F238E27FC236}">
                <a16:creationId xmlns:a16="http://schemas.microsoft.com/office/drawing/2014/main" id="{125691C8-A378-5C2C-0B27-DC5C4BD6E2C5}"/>
              </a:ext>
            </a:extLst>
          </p:cNvPr>
          <p:cNvCxnSpPr>
            <a:cxnSpLocks/>
          </p:cNvCxnSpPr>
          <p:nvPr/>
        </p:nvCxnSpPr>
        <p:spPr>
          <a:xfrm flipV="1">
            <a:off x="2708476" y="1276350"/>
            <a:ext cx="987224" cy="696776"/>
          </a:xfrm>
          <a:prstGeom prst="line">
            <a:avLst/>
          </a:prstGeom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Immagine 42">
            <a:extLst>
              <a:ext uri="{FF2B5EF4-FFF2-40B4-BE49-F238E27FC236}">
                <a16:creationId xmlns:a16="http://schemas.microsoft.com/office/drawing/2014/main" id="{F2A3C158-6D06-C8B0-F647-A6212E4510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463" b="12463"/>
          <a:stretch/>
        </p:blipFill>
        <p:spPr>
          <a:xfrm rot="20907254">
            <a:off x="-644775" y="1279465"/>
            <a:ext cx="2522113" cy="1262291"/>
          </a:xfrm>
          <a:custGeom>
            <a:avLst/>
            <a:gdLst>
              <a:gd name="connsiteX0" fmla="*/ 2367923 w 2367923"/>
              <a:gd name="connsiteY0" fmla="*/ 332861 h 1193566"/>
              <a:gd name="connsiteX1" fmla="*/ 1808313 w 2367923"/>
              <a:gd name="connsiteY1" fmla="*/ 1193566 h 1193566"/>
              <a:gd name="connsiteX2" fmla="*/ 1799347 w 2367923"/>
              <a:gd name="connsiteY2" fmla="*/ 1187120 h 1193566"/>
              <a:gd name="connsiteX3" fmla="*/ 649671 w 2367923"/>
              <a:gd name="connsiteY3" fmla="*/ 1157610 h 1193566"/>
              <a:gd name="connsiteX4" fmla="*/ 612271 w 2367923"/>
              <a:gd name="connsiteY4" fmla="*/ 1184206 h 1193566"/>
              <a:gd name="connsiteX5" fmla="*/ 0 w 2367923"/>
              <a:gd name="connsiteY5" fmla="*/ 435374 h 1193566"/>
              <a:gd name="connsiteX6" fmla="*/ 2367923 w 2367923"/>
              <a:gd name="connsiteY6" fmla="*/ 332861 h 1193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67923" h="1193566">
                <a:moveTo>
                  <a:pt x="2367923" y="332861"/>
                </a:moveTo>
                <a:lnTo>
                  <a:pt x="1808313" y="1193566"/>
                </a:lnTo>
                <a:lnTo>
                  <a:pt x="1799347" y="1187120"/>
                </a:lnTo>
                <a:cubicBezTo>
                  <a:pt x="1430021" y="946993"/>
                  <a:pt x="977846" y="949055"/>
                  <a:pt x="649671" y="1157610"/>
                </a:cubicBezTo>
                <a:lnTo>
                  <a:pt x="612271" y="1184206"/>
                </a:lnTo>
                <a:lnTo>
                  <a:pt x="0" y="435374"/>
                </a:lnTo>
                <a:cubicBezTo>
                  <a:pt x="675149" y="-104807"/>
                  <a:pt x="1631115" y="-146193"/>
                  <a:pt x="2367923" y="332861"/>
                </a:cubicBezTo>
                <a:close/>
              </a:path>
            </a:pathLst>
          </a:custGeom>
          <a:ln>
            <a:solidFill>
              <a:srgbClr val="1A1A18"/>
            </a:solidFill>
          </a:ln>
        </p:spPr>
      </p:pic>
      <p:pic>
        <p:nvPicPr>
          <p:cNvPr id="45" name="Immagine 44">
            <a:extLst>
              <a:ext uri="{FF2B5EF4-FFF2-40B4-BE49-F238E27FC236}">
                <a16:creationId xmlns:a16="http://schemas.microsoft.com/office/drawing/2014/main" id="{542F42F2-4F02-31FD-0131-DF868F17CF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67" b="13567"/>
          <a:stretch/>
        </p:blipFill>
        <p:spPr>
          <a:xfrm rot="12092259">
            <a:off x="-783378" y="4194779"/>
            <a:ext cx="2540073" cy="1240001"/>
          </a:xfrm>
          <a:custGeom>
            <a:avLst/>
            <a:gdLst>
              <a:gd name="connsiteX0" fmla="*/ 586199 w 2384784"/>
              <a:gd name="connsiteY0" fmla="*/ 1172490 h 1172490"/>
              <a:gd name="connsiteX1" fmla="*/ 0 w 2384784"/>
              <a:gd name="connsiteY1" fmla="*/ 381598 h 1172490"/>
              <a:gd name="connsiteX2" fmla="*/ 2384784 w 2384784"/>
              <a:gd name="connsiteY2" fmla="*/ 379414 h 1172490"/>
              <a:gd name="connsiteX3" fmla="*/ 1807502 w 2384784"/>
              <a:gd name="connsiteY3" fmla="*/ 1161265 h 1172490"/>
              <a:gd name="connsiteX4" fmla="*/ 1798759 w 2384784"/>
              <a:gd name="connsiteY4" fmla="*/ 1155218 h 1172490"/>
              <a:gd name="connsiteX5" fmla="*/ 1203979 w 2384784"/>
              <a:gd name="connsiteY5" fmla="*/ 987444 h 1172490"/>
              <a:gd name="connsiteX6" fmla="*/ 609506 w 2384784"/>
              <a:gd name="connsiteY6" fmla="*/ 1156308 h 1172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84784" h="1172490">
                <a:moveTo>
                  <a:pt x="586199" y="1172490"/>
                </a:moveTo>
                <a:lnTo>
                  <a:pt x="0" y="381598"/>
                </a:lnTo>
                <a:cubicBezTo>
                  <a:pt x="710541" y="-126393"/>
                  <a:pt x="1673315" y="-127274"/>
                  <a:pt x="2384784" y="379414"/>
                </a:cubicBezTo>
                <a:lnTo>
                  <a:pt x="1807502" y="1161265"/>
                </a:lnTo>
                <a:lnTo>
                  <a:pt x="1798759" y="1155218"/>
                </a:lnTo>
                <a:cubicBezTo>
                  <a:pt x="1628922" y="1049106"/>
                  <a:pt x="1424242" y="987242"/>
                  <a:pt x="1203979" y="987444"/>
                </a:cubicBezTo>
                <a:cubicBezTo>
                  <a:pt x="983716" y="987646"/>
                  <a:pt x="779148" y="1049884"/>
                  <a:pt x="609506" y="1156308"/>
                </a:cubicBezTo>
                <a:close/>
              </a:path>
            </a:pathLst>
          </a:custGeom>
          <a:ln>
            <a:solidFill>
              <a:srgbClr val="1A1A18"/>
            </a:solidFill>
          </a:ln>
        </p:spPr>
      </p:pic>
      <p:pic>
        <p:nvPicPr>
          <p:cNvPr id="46" name="Immagine 45">
            <a:extLst>
              <a:ext uri="{FF2B5EF4-FFF2-40B4-BE49-F238E27FC236}">
                <a16:creationId xmlns:a16="http://schemas.microsoft.com/office/drawing/2014/main" id="{1DE75F66-9BAA-B7D4-2092-AA42E4482EA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408" b="11408"/>
          <a:stretch/>
        </p:blipFill>
        <p:spPr>
          <a:xfrm rot="16272059">
            <a:off x="-1768215" y="2640350"/>
            <a:ext cx="2503266" cy="1288091"/>
          </a:xfrm>
          <a:custGeom>
            <a:avLst/>
            <a:gdLst>
              <a:gd name="connsiteX0" fmla="*/ 2366977 w 2366977"/>
              <a:gd name="connsiteY0" fmla="*/ 431378 h 1209343"/>
              <a:gd name="connsiteX1" fmla="*/ 1763350 w 2366977"/>
              <a:gd name="connsiteY1" fmla="*/ 1209343 h 1209343"/>
              <a:gd name="connsiteX2" fmla="*/ 1724760 w 2366977"/>
              <a:gd name="connsiteY2" fmla="*/ 1174543 h 1209343"/>
              <a:gd name="connsiteX3" fmla="*/ 1464476 w 2366977"/>
              <a:gd name="connsiteY3" fmla="*/ 1026400 h 1209343"/>
              <a:gd name="connsiteX4" fmla="*/ 608514 w 2366977"/>
              <a:gd name="connsiteY4" fmla="*/ 1130480 h 1209343"/>
              <a:gd name="connsiteX5" fmla="*/ 534746 w 2366977"/>
              <a:gd name="connsiteY5" fmla="*/ 1182668 h 1209343"/>
              <a:gd name="connsiteX6" fmla="*/ 0 w 2366977"/>
              <a:gd name="connsiteY6" fmla="*/ 357120 h 1209343"/>
              <a:gd name="connsiteX7" fmla="*/ 2366977 w 2366977"/>
              <a:gd name="connsiteY7" fmla="*/ 431378 h 12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66977" h="1209343">
                <a:moveTo>
                  <a:pt x="2366977" y="431378"/>
                </a:moveTo>
                <a:lnTo>
                  <a:pt x="1763350" y="1209343"/>
                </a:lnTo>
                <a:lnTo>
                  <a:pt x="1724760" y="1174543"/>
                </a:lnTo>
                <a:cubicBezTo>
                  <a:pt x="1648178" y="1112481"/>
                  <a:pt x="1560997" y="1062074"/>
                  <a:pt x="1464476" y="1026400"/>
                </a:cubicBezTo>
                <a:cubicBezTo>
                  <a:pt x="1174914" y="919378"/>
                  <a:pt x="862969" y="967752"/>
                  <a:pt x="608514" y="1130480"/>
                </a:cubicBezTo>
                <a:lnTo>
                  <a:pt x="534746" y="1182668"/>
                </a:lnTo>
                <a:lnTo>
                  <a:pt x="0" y="357120"/>
                </a:lnTo>
                <a:cubicBezTo>
                  <a:pt x="730979" y="-145110"/>
                  <a:pt x="1686563" y="-115132"/>
                  <a:pt x="2366977" y="431378"/>
                </a:cubicBezTo>
                <a:close/>
              </a:path>
            </a:pathLst>
          </a:custGeom>
          <a:ln>
            <a:solidFill>
              <a:srgbClr val="1A1A18"/>
            </a:solidFill>
          </a:ln>
        </p:spPr>
      </p:pic>
      <p:pic>
        <p:nvPicPr>
          <p:cNvPr id="47" name="Immagine 46">
            <a:extLst>
              <a:ext uri="{FF2B5EF4-FFF2-40B4-BE49-F238E27FC236}">
                <a16:creationId xmlns:a16="http://schemas.microsoft.com/office/drawing/2014/main" id="{AF2E1AD2-8BD9-689D-B130-AF120B630D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58" b="7758"/>
          <a:stretch/>
        </p:blipFill>
        <p:spPr>
          <a:xfrm rot="7943511">
            <a:off x="1014499" y="3714597"/>
            <a:ext cx="2478790" cy="1292408"/>
          </a:xfrm>
          <a:custGeom>
            <a:avLst/>
            <a:gdLst>
              <a:gd name="connsiteX0" fmla="*/ 0 w 2343834"/>
              <a:gd name="connsiteY0" fmla="*/ 441432 h 1213396"/>
              <a:gd name="connsiteX1" fmla="*/ 2343834 w 2343834"/>
              <a:gd name="connsiteY1" fmla="*/ 334972 h 1213396"/>
              <a:gd name="connsiteX2" fmla="*/ 1813435 w 2343834"/>
              <a:gd name="connsiteY2" fmla="*/ 1164320 h 1213396"/>
              <a:gd name="connsiteX3" fmla="*/ 1754638 w 2343834"/>
              <a:gd name="connsiteY3" fmla="*/ 1124102 h 1213396"/>
              <a:gd name="connsiteX4" fmla="*/ 906090 w 2343834"/>
              <a:gd name="connsiteY4" fmla="*/ 1033944 h 1213396"/>
              <a:gd name="connsiteX5" fmla="*/ 649372 w 2343834"/>
              <a:gd name="connsiteY5" fmla="*/ 1183193 h 1213396"/>
              <a:gd name="connsiteX6" fmla="*/ 616363 w 2343834"/>
              <a:gd name="connsiteY6" fmla="*/ 1213396 h 121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43834" h="1213396">
                <a:moveTo>
                  <a:pt x="0" y="441432"/>
                </a:moveTo>
                <a:cubicBezTo>
                  <a:pt x="669935" y="-105201"/>
                  <a:pt x="1616176" y="-148180"/>
                  <a:pt x="2343834" y="334972"/>
                </a:cubicBezTo>
                <a:lnTo>
                  <a:pt x="1813435" y="1164320"/>
                </a:lnTo>
                <a:lnTo>
                  <a:pt x="1754638" y="1124102"/>
                </a:lnTo>
                <a:cubicBezTo>
                  <a:pt x="1501427" y="967804"/>
                  <a:pt x="1192108" y="924686"/>
                  <a:pt x="906090" y="1033944"/>
                </a:cubicBezTo>
                <a:cubicBezTo>
                  <a:pt x="810752" y="1070363"/>
                  <a:pt x="724770" y="1121127"/>
                  <a:pt x="649372" y="1183193"/>
                </a:cubicBezTo>
                <a:lnTo>
                  <a:pt x="616363" y="1213396"/>
                </a:lnTo>
                <a:close/>
              </a:path>
            </a:pathLst>
          </a:custGeom>
          <a:ln>
            <a:solidFill>
              <a:srgbClr val="1A1A18"/>
            </a:solidFill>
          </a:ln>
        </p:spPr>
      </p:pic>
      <p:pic>
        <p:nvPicPr>
          <p:cNvPr id="48" name="Immagine 47">
            <a:extLst>
              <a:ext uri="{FF2B5EF4-FFF2-40B4-BE49-F238E27FC236}">
                <a16:creationId xmlns:a16="http://schemas.microsoft.com/office/drawing/2014/main" id="{8A139B66-BB2C-C3EC-DB60-76DE78293D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2" r="2662"/>
          <a:stretch/>
        </p:blipFill>
        <p:spPr>
          <a:xfrm rot="2892082">
            <a:off x="1105540" y="1959448"/>
            <a:ext cx="2494801" cy="1332279"/>
          </a:xfrm>
          <a:custGeom>
            <a:avLst/>
            <a:gdLst>
              <a:gd name="connsiteX0" fmla="*/ 300947 w 2342280"/>
              <a:gd name="connsiteY0" fmla="*/ 97195 h 1259744"/>
              <a:gd name="connsiteX1" fmla="*/ 2342280 w 2342280"/>
              <a:gd name="connsiteY1" fmla="*/ 582472 h 1259744"/>
              <a:gd name="connsiteX2" fmla="*/ 1651027 w 2342280"/>
              <a:gd name="connsiteY2" fmla="*/ 1259744 h 1259744"/>
              <a:gd name="connsiteX3" fmla="*/ 1616664 w 2342280"/>
              <a:gd name="connsiteY3" fmla="*/ 1229094 h 1259744"/>
              <a:gd name="connsiteX4" fmla="*/ 470718 w 2342280"/>
              <a:gd name="connsiteY4" fmla="*/ 1131972 h 1259744"/>
              <a:gd name="connsiteX5" fmla="*/ 461534 w 2342280"/>
              <a:gd name="connsiteY5" fmla="*/ 1137146 h 1259744"/>
              <a:gd name="connsiteX6" fmla="*/ 0 w 2342280"/>
              <a:gd name="connsiteY6" fmla="*/ 220132 h 1259744"/>
              <a:gd name="connsiteX7" fmla="*/ 300947 w 2342280"/>
              <a:gd name="connsiteY7" fmla="*/ 97195 h 1259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42280" h="1259744">
                <a:moveTo>
                  <a:pt x="300947" y="97195"/>
                </a:moveTo>
                <a:cubicBezTo>
                  <a:pt x="1016214" y="-131140"/>
                  <a:pt x="1807098" y="47703"/>
                  <a:pt x="2342280" y="582472"/>
                </a:cubicBezTo>
                <a:lnTo>
                  <a:pt x="1651027" y="1259744"/>
                </a:lnTo>
                <a:lnTo>
                  <a:pt x="1616664" y="1229094"/>
                </a:lnTo>
                <a:cubicBezTo>
                  <a:pt x="1313420" y="985708"/>
                  <a:pt x="864215" y="933924"/>
                  <a:pt x="470718" y="1131972"/>
                </a:cubicBezTo>
                <a:lnTo>
                  <a:pt x="461534" y="1137146"/>
                </a:lnTo>
                <a:lnTo>
                  <a:pt x="0" y="220132"/>
                </a:lnTo>
                <a:cubicBezTo>
                  <a:pt x="98128" y="170744"/>
                  <a:pt x="198767" y="129815"/>
                  <a:pt x="300947" y="97195"/>
                </a:cubicBezTo>
                <a:close/>
              </a:path>
            </a:pathLst>
          </a:custGeom>
          <a:ln>
            <a:solidFill>
              <a:srgbClr val="1A1A18"/>
            </a:solidFill>
          </a:ln>
        </p:spPr>
      </p:pic>
      <p:sp>
        <p:nvSpPr>
          <p:cNvPr id="2" name="Figura a mano libera: forma 1">
            <a:extLst>
              <a:ext uri="{FF2B5EF4-FFF2-40B4-BE49-F238E27FC236}">
                <a16:creationId xmlns:a16="http://schemas.microsoft.com/office/drawing/2014/main" id="{624F6DFF-72FF-C48E-1951-E7D798953867}"/>
              </a:ext>
            </a:extLst>
          </p:cNvPr>
          <p:cNvSpPr/>
          <p:nvPr/>
        </p:nvSpPr>
        <p:spPr>
          <a:xfrm rot="17975195">
            <a:off x="-30556" y="2283637"/>
            <a:ext cx="2097301" cy="2257245"/>
          </a:xfrm>
          <a:custGeom>
            <a:avLst/>
            <a:gdLst>
              <a:gd name="connsiteX0" fmla="*/ 1112532 w 2215988"/>
              <a:gd name="connsiteY0" fmla="*/ 54878 h 2058934"/>
              <a:gd name="connsiteX1" fmla="*/ 71253 w 2215988"/>
              <a:gd name="connsiteY1" fmla="*/ 1020979 h 2058934"/>
              <a:gd name="connsiteX2" fmla="*/ 1112532 w 2215988"/>
              <a:gd name="connsiteY2" fmla="*/ 1987080 h 2058934"/>
              <a:gd name="connsiteX3" fmla="*/ 2153811 w 2215988"/>
              <a:gd name="connsiteY3" fmla="*/ 1020979 h 2058934"/>
              <a:gd name="connsiteX4" fmla="*/ 1112532 w 2215988"/>
              <a:gd name="connsiteY4" fmla="*/ 54878 h 2058934"/>
              <a:gd name="connsiteX5" fmla="*/ 1107994 w 2215988"/>
              <a:gd name="connsiteY5" fmla="*/ 0 h 2058934"/>
              <a:gd name="connsiteX6" fmla="*/ 2215988 w 2215988"/>
              <a:gd name="connsiteY6" fmla="*/ 1029467 h 2058934"/>
              <a:gd name="connsiteX7" fmla="*/ 1107994 w 2215988"/>
              <a:gd name="connsiteY7" fmla="*/ 2058934 h 2058934"/>
              <a:gd name="connsiteX8" fmla="*/ 0 w 2215988"/>
              <a:gd name="connsiteY8" fmla="*/ 1029467 h 2058934"/>
              <a:gd name="connsiteX9" fmla="*/ 1107994 w 2215988"/>
              <a:gd name="connsiteY9" fmla="*/ 0 h 2058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15988" h="2058934">
                <a:moveTo>
                  <a:pt x="1112532" y="54878"/>
                </a:moveTo>
                <a:cubicBezTo>
                  <a:pt x="537449" y="54878"/>
                  <a:pt x="71253" y="487416"/>
                  <a:pt x="71253" y="1020979"/>
                </a:cubicBezTo>
                <a:cubicBezTo>
                  <a:pt x="71253" y="1554542"/>
                  <a:pt x="537449" y="1987080"/>
                  <a:pt x="1112532" y="1987080"/>
                </a:cubicBezTo>
                <a:cubicBezTo>
                  <a:pt x="1687615" y="1987080"/>
                  <a:pt x="2153811" y="1554542"/>
                  <a:pt x="2153811" y="1020979"/>
                </a:cubicBezTo>
                <a:cubicBezTo>
                  <a:pt x="2153811" y="487416"/>
                  <a:pt x="1687615" y="54878"/>
                  <a:pt x="1112532" y="54878"/>
                </a:cubicBezTo>
                <a:close/>
                <a:moveTo>
                  <a:pt x="1107994" y="0"/>
                </a:moveTo>
                <a:cubicBezTo>
                  <a:pt x="1719922" y="0"/>
                  <a:pt x="2215988" y="460908"/>
                  <a:pt x="2215988" y="1029467"/>
                </a:cubicBezTo>
                <a:cubicBezTo>
                  <a:pt x="2215988" y="1598026"/>
                  <a:pt x="1719922" y="2058934"/>
                  <a:pt x="1107994" y="2058934"/>
                </a:cubicBezTo>
                <a:cubicBezTo>
                  <a:pt x="496066" y="2058934"/>
                  <a:pt x="0" y="1598026"/>
                  <a:pt x="0" y="1029467"/>
                </a:cubicBezTo>
                <a:cubicBezTo>
                  <a:pt x="0" y="460908"/>
                  <a:pt x="496066" y="0"/>
                  <a:pt x="1107994" y="0"/>
                </a:cubicBezTo>
                <a:close/>
              </a:path>
            </a:pathLst>
          </a:custGeom>
          <a:solidFill>
            <a:srgbClr val="CC190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7931E09C-E77B-9588-0E4E-DFBFD6CA5668}"/>
              </a:ext>
            </a:extLst>
          </p:cNvPr>
          <p:cNvSpPr/>
          <p:nvPr/>
        </p:nvSpPr>
        <p:spPr>
          <a:xfrm>
            <a:off x="10314105" y="171698"/>
            <a:ext cx="1651413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dirty="0">
                <a:ln/>
                <a:solidFill>
                  <a:srgbClr val="C00000"/>
                </a:solidFill>
                <a:latin typeface="Book Antiqua" panose="02040602050305030304" pitchFamily="18" charset="0"/>
              </a:rPr>
              <a:t>Vision-Guided </a:t>
            </a:r>
          </a:p>
          <a:p>
            <a:pPr algn="ctr"/>
            <a:r>
              <a:rPr lang="en-US" sz="1400" b="1" dirty="0">
                <a:ln/>
                <a:solidFill>
                  <a:srgbClr val="C00000"/>
                </a:solidFill>
                <a:latin typeface="Book Antiqua" panose="02040602050305030304" pitchFamily="18" charset="0"/>
              </a:rPr>
              <a:t>Pick-and-Place</a:t>
            </a:r>
            <a:endParaRPr lang="it-IT" sz="1600" b="1" dirty="0">
              <a:ln/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678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420</Words>
  <Application>Microsoft Office PowerPoint</Application>
  <PresentationFormat>Widescreen</PresentationFormat>
  <Paragraphs>60</Paragraphs>
  <Slides>8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4" baseType="lpstr">
      <vt:lpstr>Arial</vt:lpstr>
      <vt:lpstr>Book Antiqua</vt:lpstr>
      <vt:lpstr>Calibri</vt:lpstr>
      <vt:lpstr>Calibri Light</vt:lpstr>
      <vt:lpstr>Wingdings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 Francavilla</dc:creator>
  <cp:lastModifiedBy>Sara Francavilla</cp:lastModifiedBy>
  <cp:revision>4</cp:revision>
  <dcterms:created xsi:type="dcterms:W3CDTF">2025-03-09T16:40:41Z</dcterms:created>
  <dcterms:modified xsi:type="dcterms:W3CDTF">2025-06-10T16:22:48Z</dcterms:modified>
</cp:coreProperties>
</file>